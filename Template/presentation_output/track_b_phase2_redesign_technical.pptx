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+ PHASE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+ Phase 2 — Technical Redesign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 = implemented legal intelligence | Phase 2 = proposed ecosystem intelligence extension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8288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115568" y="2103120"/>
            <a:ext cx="21031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— Legal Intelligence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115568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 legal advisor implemented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Intelligent document agent implemented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Knowledge base grounded on Tunisian legal data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External research module for ecosystem links</a:t>
            </a:r>
            <a:endParaRPr lang="en-US" sz="880" dirty="0"/>
          </a:p>
        </p:txBody>
      </p:sp>
      <p:sp>
        <p:nvSpPr>
          <p:cNvPr id="103" name="Text 101"/>
          <p:cNvSpPr/>
          <p:nvPr/>
        </p:nvSpPr>
        <p:spPr>
          <a:xfrm>
            <a:off x="1115568" y="3456432"/>
            <a:ext cx="201168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implemented in code</a:t>
            </a:r>
            <a:endParaRPr lang="en-US" sz="860" dirty="0"/>
          </a:p>
        </p:txBody>
      </p:sp>
      <p:sp>
        <p:nvSpPr>
          <p:cNvPr id="104" name="Shape 102"/>
          <p:cNvSpPr/>
          <p:nvPr/>
        </p:nvSpPr>
        <p:spPr>
          <a:xfrm>
            <a:off x="4224528" y="2487168"/>
            <a:ext cx="1097280" cy="53035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5486400" y="1828800"/>
            <a:ext cx="306324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5779008" y="2103120"/>
            <a:ext cx="2194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— Ecosystem Intelligence</a:t>
            </a:r>
            <a:endParaRPr lang="en-US" sz="1200" dirty="0"/>
          </a:p>
        </p:txBody>
      </p:sp>
      <p:sp>
        <p:nvSpPr>
          <p:cNvPr id="107" name="Text 105"/>
          <p:cNvSpPr/>
          <p:nvPr/>
        </p:nvSpPr>
        <p:spPr>
          <a:xfrm>
            <a:off x="5779008" y="2468880"/>
            <a:ext cx="2286000" cy="7772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Predictive investor/mentor matching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Strategic event ranking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Ecosystem graph reasoning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Relationship health + auto DB update</a:t>
            </a:r>
            <a:endParaRPr lang="en-US" sz="880" dirty="0"/>
          </a:p>
        </p:txBody>
      </p:sp>
      <p:sp>
        <p:nvSpPr>
          <p:cNvPr id="108" name="Text 106"/>
          <p:cNvSpPr/>
          <p:nvPr/>
        </p:nvSpPr>
        <p:spPr>
          <a:xfrm>
            <a:off x="5779008" y="3456432"/>
            <a:ext cx="237744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Status: proposed extension / prototype design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9006840" y="1828800"/>
            <a:ext cx="21031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253728" y="2103120"/>
            <a:ext cx="1280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Defense rule</a:t>
            </a:r>
            <a:endParaRPr lang="en-US" sz="1200" dirty="0"/>
          </a:p>
        </p:txBody>
      </p:sp>
      <p:sp>
        <p:nvSpPr>
          <p:cNvPr id="111" name="Text 109"/>
          <p:cNvSpPr/>
          <p:nvPr/>
        </p:nvSpPr>
        <p:spPr>
          <a:xfrm>
            <a:off x="9253728" y="2514600"/>
            <a:ext cx="1508760" cy="6583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6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 not present Phase 2 as fully delivered unless you show its code. Present it as Phase 2, with clear data model and algorithms.</a:t>
            </a:r>
            <a:endParaRPr lang="en-US" sz="860" dirty="0"/>
          </a:p>
        </p:txBody>
      </p:sp>
      <p:sp>
        <p:nvSpPr>
          <p:cNvPr id="112" name="Shape 110"/>
          <p:cNvSpPr/>
          <p:nvPr/>
        </p:nvSpPr>
        <p:spPr>
          <a:xfrm>
            <a:off x="1325880" y="4709160"/>
            <a:ext cx="9098280" cy="566928"/>
          </a:xfrm>
          <a:prstGeom prst="roundRect">
            <a:avLst>
              <a:gd name="adj" fmla="val 12903"/>
            </a:avLst>
          </a:prstGeom>
          <a:solidFill>
            <a:srgbClr val="D9EEF7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600200" y="4901184"/>
            <a:ext cx="854964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7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Narrative: Track B makes the startup legally ready. Phase 2 uses that clean legal profile to connect the founder to the right investors, mentors and events.</a:t>
            </a:r>
            <a:endParaRPr lang="en-US" sz="970" dirty="0"/>
          </a:p>
        </p:txBody>
      </p:sp>
      <p:sp>
        <p:nvSpPr>
          <p:cNvPr id="114" name="Text 11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</a:t>
            </a:r>
            <a:endParaRPr lang="en-US" sz="8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— Implemented Scope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structuring, document intelligence, Startup Label readiness and ecosystem evidence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914400" y="1828800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234440" y="2057400"/>
            <a:ext cx="20116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Strategic Legal Agent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234440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Recommends legal form, Startup Act score, required documents, administrative checklist.</a:t>
            </a:r>
            <a:endParaRPr lang="en-US" sz="840" dirty="0"/>
          </a:p>
        </p:txBody>
      </p:sp>
      <p:sp>
        <p:nvSpPr>
          <p:cNvPr id="103" name="Shape 101"/>
          <p:cNvSpPr/>
          <p:nvPr/>
        </p:nvSpPr>
        <p:spPr>
          <a:xfrm>
            <a:off x="4617720" y="1828800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233E68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4892040" y="2057400"/>
            <a:ext cx="2194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Intelligent Document Agent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892040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Parses files, detects type, validates signatures/stamps, scores completeness and risk.</a:t>
            </a:r>
            <a:endParaRPr lang="en-US" sz="840" dirty="0"/>
          </a:p>
        </p:txBody>
      </p:sp>
      <p:sp>
        <p:nvSpPr>
          <p:cNvPr id="106" name="Shape 104"/>
          <p:cNvSpPr/>
          <p:nvPr/>
        </p:nvSpPr>
        <p:spPr>
          <a:xfrm>
            <a:off x="8321040" y="1828800"/>
            <a:ext cx="2971800" cy="914400"/>
          </a:xfrm>
          <a:prstGeom prst="snip1Rect">
            <a:avLst/>
          </a:prstGeom>
          <a:solidFill>
            <a:srgbClr val="FFFFFF"/>
          </a:solidFill>
          <a:ln w="12700">
            <a:solidFill>
              <a:srgbClr val="3890BC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613648" y="2057400"/>
            <a:ext cx="20116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External Research Module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8613648" y="2395728"/>
            <a:ext cx="2057400" cy="2560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4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Google, LinkedIn, Facebook and events search for credibility and networking evidence.</a:t>
            </a:r>
            <a:endParaRPr lang="en-US" sz="840" dirty="0"/>
          </a:p>
        </p:txBody>
      </p:sp>
      <p:sp>
        <p:nvSpPr>
          <p:cNvPr id="109" name="Shape 107"/>
          <p:cNvSpPr/>
          <p:nvPr/>
        </p:nvSpPr>
        <p:spPr>
          <a:xfrm>
            <a:off x="914400" y="3401568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960120" y="3470148"/>
            <a:ext cx="18288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Code object</a:t>
            </a:r>
            <a:endParaRPr lang="en-US" sz="760" dirty="0"/>
          </a:p>
        </p:txBody>
      </p:sp>
      <p:sp>
        <p:nvSpPr>
          <p:cNvPr id="111" name="Shape 109"/>
          <p:cNvSpPr/>
          <p:nvPr/>
        </p:nvSpPr>
        <p:spPr>
          <a:xfrm>
            <a:off x="2843784" y="3401568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2" name="Text 110"/>
          <p:cNvSpPr/>
          <p:nvPr/>
        </p:nvSpPr>
        <p:spPr>
          <a:xfrm>
            <a:off x="2889504" y="3470148"/>
            <a:ext cx="26517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File</a:t>
            </a:r>
            <a:endParaRPr lang="en-US" sz="760" dirty="0"/>
          </a:p>
        </p:txBody>
      </p:sp>
      <p:sp>
        <p:nvSpPr>
          <p:cNvPr id="113" name="Shape 111"/>
          <p:cNvSpPr/>
          <p:nvPr/>
        </p:nvSpPr>
        <p:spPr>
          <a:xfrm>
            <a:off x="5596128" y="3401568"/>
            <a:ext cx="5303520" cy="301752"/>
          </a:xfrm>
          <a:prstGeom prst="roundRect">
            <a:avLst>
              <a:gd name="adj" fmla="val 2424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5641848" y="3470148"/>
            <a:ext cx="52120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it does</a:t>
            </a:r>
            <a:endParaRPr lang="en-US" sz="760" dirty="0"/>
          </a:p>
        </p:txBody>
      </p:sp>
      <p:sp>
        <p:nvSpPr>
          <p:cNvPr id="115" name="Shape 113"/>
          <p:cNvSpPr/>
          <p:nvPr/>
        </p:nvSpPr>
        <p:spPr>
          <a:xfrm>
            <a:off x="914400" y="3703320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60120" y="3767328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TrackBOrchestrator</a:t>
            </a:r>
            <a:endParaRPr lang="en-US" sz="735" dirty="0"/>
          </a:p>
        </p:txBody>
      </p:sp>
      <p:sp>
        <p:nvSpPr>
          <p:cNvPr id="117" name="Shape 115"/>
          <p:cNvSpPr/>
          <p:nvPr/>
        </p:nvSpPr>
        <p:spPr>
          <a:xfrm>
            <a:off x="2843784" y="3703320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2889504" y="3767328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app/services/orchestrator.py</a:t>
            </a:r>
            <a:endParaRPr lang="en-US" sz="735" dirty="0"/>
          </a:p>
        </p:txBody>
      </p:sp>
      <p:sp>
        <p:nvSpPr>
          <p:cNvPr id="119" name="Shape 117"/>
          <p:cNvSpPr/>
          <p:nvPr/>
        </p:nvSpPr>
        <p:spPr>
          <a:xfrm>
            <a:off x="5596128" y="3703320"/>
            <a:ext cx="530352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0" name="Text 118"/>
          <p:cNvSpPr/>
          <p:nvPr/>
        </p:nvSpPr>
        <p:spPr>
          <a:xfrm>
            <a:off x="5641848" y="3767328"/>
            <a:ext cx="5212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runs A1 then A2 and builds final_output</a:t>
            </a:r>
            <a:endParaRPr lang="en-US" sz="735" dirty="0"/>
          </a:p>
        </p:txBody>
      </p:sp>
      <p:sp>
        <p:nvSpPr>
          <p:cNvPr id="121" name="Shape 119"/>
          <p:cNvSpPr/>
          <p:nvPr/>
        </p:nvSpPr>
        <p:spPr>
          <a:xfrm>
            <a:off x="914400" y="4005072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0120" y="4069080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StrategicLegalAgent</a:t>
            </a:r>
            <a:endParaRPr lang="en-US" sz="735" dirty="0"/>
          </a:p>
        </p:txBody>
      </p:sp>
      <p:sp>
        <p:nvSpPr>
          <p:cNvPr id="123" name="Shape 121"/>
          <p:cNvSpPr/>
          <p:nvPr/>
        </p:nvSpPr>
        <p:spPr>
          <a:xfrm>
            <a:off x="2843784" y="4005072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2889504" y="4069080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app/agents/strategic_legal_agent.py</a:t>
            </a:r>
            <a:endParaRPr lang="en-US" sz="735" dirty="0"/>
          </a:p>
        </p:txBody>
      </p:sp>
      <p:sp>
        <p:nvSpPr>
          <p:cNvPr id="125" name="Shape 123"/>
          <p:cNvSpPr/>
          <p:nvPr/>
        </p:nvSpPr>
        <p:spPr>
          <a:xfrm>
            <a:off x="5596128" y="4005072"/>
            <a:ext cx="5303520" cy="301752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5641848" y="4069080"/>
            <a:ext cx="5212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form, Startup Act, checklist, pitch signals</a:t>
            </a:r>
            <a:endParaRPr lang="en-US" sz="735" dirty="0"/>
          </a:p>
        </p:txBody>
      </p:sp>
      <p:sp>
        <p:nvSpPr>
          <p:cNvPr id="127" name="Shape 125"/>
          <p:cNvSpPr/>
          <p:nvPr/>
        </p:nvSpPr>
        <p:spPr>
          <a:xfrm>
            <a:off x="914400" y="4306824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960120" y="4370832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IntelligentDocumentAgent</a:t>
            </a:r>
            <a:endParaRPr lang="en-US" sz="735" dirty="0"/>
          </a:p>
        </p:txBody>
      </p:sp>
      <p:sp>
        <p:nvSpPr>
          <p:cNvPr id="129" name="Shape 127"/>
          <p:cNvSpPr/>
          <p:nvPr/>
        </p:nvSpPr>
        <p:spPr>
          <a:xfrm>
            <a:off x="2843784" y="4306824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2889504" y="4370832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app/agents/intelligent_document_agent.py</a:t>
            </a:r>
            <a:endParaRPr lang="en-US" sz="735" dirty="0"/>
          </a:p>
        </p:txBody>
      </p:sp>
      <p:sp>
        <p:nvSpPr>
          <p:cNvPr id="131" name="Shape 129"/>
          <p:cNvSpPr/>
          <p:nvPr/>
        </p:nvSpPr>
        <p:spPr>
          <a:xfrm>
            <a:off x="5596128" y="4306824"/>
            <a:ext cx="530352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5641848" y="4370832"/>
            <a:ext cx="5212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OCR/parser, diagnostics, cross-document checks</a:t>
            </a:r>
            <a:endParaRPr lang="en-US" sz="735" dirty="0"/>
          </a:p>
        </p:txBody>
      </p:sp>
      <p:sp>
        <p:nvSpPr>
          <p:cNvPr id="133" name="Shape 131"/>
          <p:cNvSpPr/>
          <p:nvPr/>
        </p:nvSpPr>
        <p:spPr>
          <a:xfrm>
            <a:off x="914400" y="4608576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0120" y="4672584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Track2LegalAssistant</a:t>
            </a:r>
            <a:endParaRPr lang="en-US" sz="735" dirty="0"/>
          </a:p>
        </p:txBody>
      </p:sp>
      <p:sp>
        <p:nvSpPr>
          <p:cNvPr id="135" name="Shape 133"/>
          <p:cNvSpPr/>
          <p:nvPr/>
        </p:nvSpPr>
        <p:spPr>
          <a:xfrm>
            <a:off x="2843784" y="4608576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2889504" y="4672584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src/pages/Track2LegalAssistant.jsx</a:t>
            </a:r>
            <a:endParaRPr lang="en-US" sz="735" dirty="0"/>
          </a:p>
        </p:txBody>
      </p:sp>
      <p:sp>
        <p:nvSpPr>
          <p:cNvPr id="137" name="Shape 135"/>
          <p:cNvSpPr/>
          <p:nvPr/>
        </p:nvSpPr>
        <p:spPr>
          <a:xfrm>
            <a:off x="5596128" y="4608576"/>
            <a:ext cx="5303520" cy="301752"/>
          </a:xfrm>
          <a:prstGeom prst="roundRect">
            <a:avLst>
              <a:gd name="adj" fmla="val 24242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5641848" y="4672584"/>
            <a:ext cx="5212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frontend legal dashboard and upload UI</a:t>
            </a:r>
            <a:endParaRPr lang="en-US" sz="735" dirty="0"/>
          </a:p>
        </p:txBody>
      </p:sp>
      <p:sp>
        <p:nvSpPr>
          <p:cNvPr id="139" name="Shape 137"/>
          <p:cNvSpPr/>
          <p:nvPr/>
        </p:nvSpPr>
        <p:spPr>
          <a:xfrm>
            <a:off x="914400" y="4910328"/>
            <a:ext cx="192024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960120" y="4974336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track2_api.py</a:t>
            </a:r>
            <a:endParaRPr lang="en-US" sz="735" dirty="0"/>
          </a:p>
        </p:txBody>
      </p:sp>
      <p:sp>
        <p:nvSpPr>
          <p:cNvPr id="141" name="Shape 139"/>
          <p:cNvSpPr/>
          <p:nvPr/>
        </p:nvSpPr>
        <p:spPr>
          <a:xfrm>
            <a:off x="2843784" y="4910328"/>
            <a:ext cx="274320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2" name="Text 140"/>
          <p:cNvSpPr/>
          <p:nvPr/>
        </p:nvSpPr>
        <p:spPr>
          <a:xfrm>
            <a:off x="2889504" y="4974336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Template/track2_api.py</a:t>
            </a:r>
            <a:endParaRPr lang="en-US" sz="735" dirty="0"/>
          </a:p>
        </p:txBody>
      </p:sp>
      <p:sp>
        <p:nvSpPr>
          <p:cNvPr id="143" name="Shape 141"/>
          <p:cNvSpPr/>
          <p:nvPr/>
        </p:nvSpPr>
        <p:spPr>
          <a:xfrm>
            <a:off x="5596128" y="4910328"/>
            <a:ext cx="5303520" cy="301752"/>
          </a:xfrm>
          <a:prstGeom prst="roundRect">
            <a:avLst>
              <a:gd name="adj" fmla="val 24242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4" name="Text 142"/>
          <p:cNvSpPr/>
          <p:nvPr/>
        </p:nvSpPr>
        <p:spPr>
          <a:xfrm>
            <a:off x="5641848" y="4974336"/>
            <a:ext cx="52120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FastAPI bridge, upload, run, chat, research</a:t>
            </a:r>
            <a:endParaRPr lang="en-US" sz="735" dirty="0"/>
          </a:p>
        </p:txBody>
      </p:sp>
      <p:sp>
        <p:nvSpPr>
          <p:cNvPr id="145" name="Text 143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2</a:t>
            </a:r>
            <a:endParaRPr lang="en-US" sz="8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Knowledge Base — Legal Grounding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Curated Tunisian legal knowledge used to reduce hallucination and structure decisions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600200"/>
            <a:ext cx="5074920" cy="3337560"/>
          </a:xfrm>
          <a:prstGeom prst="roundRect">
            <a:avLst>
              <a:gd name="adj" fmla="val 2192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1874520"/>
            <a:ext cx="21031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3890BC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kb_master.json structure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143000" y="2176272"/>
            <a:ext cx="4251960" cy="16916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"documents": [types, required fields, icons],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"rules": [legal forms, founders, capital],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"workflows": [7-step admin checklist],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"fees": [RNE, IF, bank, notaire],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"deadlines": [days/week per step],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"authorities": [DGI, RNE, ministeres],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"relations": [doc -&gt; rule -&gt; workflow]</a:t>
            </a:r>
            <a:endParaRPr lang="en-US" sz="880" dirty="0"/>
          </a:p>
          <a:p>
            <a:pPr algn="l" indent="0" marL="0">
              <a:buNone/>
            </a:pPr>
            <a:r>
              <a:rPr lang="en-US" sz="880" dirty="0">
                <a:solidFill>
                  <a:srgbClr val="0A0F55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}</a:t>
            </a:r>
            <a:endParaRPr lang="en-US" sz="880" dirty="0"/>
          </a:p>
        </p:txBody>
      </p:sp>
      <p:sp>
        <p:nvSpPr>
          <p:cNvPr id="103" name="Shape 101"/>
          <p:cNvSpPr/>
          <p:nvPr/>
        </p:nvSpPr>
        <p:spPr>
          <a:xfrm>
            <a:off x="1051560" y="4251960"/>
            <a:ext cx="4389120" cy="530352"/>
          </a:xfrm>
          <a:prstGeom prst="roundRect">
            <a:avLst>
              <a:gd name="adj" fmla="val 13793"/>
            </a:avLst>
          </a:prstGeom>
          <a:solidFill>
            <a:srgbClr val="CDEBCF"/>
          </a:solidFill>
          <a:ln w="13335">
            <a:solidFill>
              <a:srgbClr val="8CCB95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1234440" y="4453128"/>
            <a:ext cx="38862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50 synthetic documents + realistic templates for evaluation and demo</a:t>
            </a:r>
            <a:endParaRPr lang="en-US" sz="840" dirty="0"/>
          </a:p>
        </p:txBody>
      </p:sp>
      <p:sp>
        <p:nvSpPr>
          <p:cNvPr id="105" name="Shape 103"/>
          <p:cNvSpPr/>
          <p:nvPr/>
        </p:nvSpPr>
        <p:spPr>
          <a:xfrm>
            <a:off x="6400800" y="1600200"/>
            <a:ext cx="4434840" cy="3337560"/>
          </a:xfrm>
          <a:prstGeom prst="roundRect">
            <a:avLst>
              <a:gd name="adj" fmla="val 2192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6" name="Text 104"/>
          <p:cNvSpPr/>
          <p:nvPr/>
        </p:nvSpPr>
        <p:spPr>
          <a:xfrm>
            <a:off x="6720840" y="1965960"/>
            <a:ext cx="3520440" cy="164592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Tunisian Code des Societes Commerciales and Startup Act references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Domain knowledge curated from RNE, DGI and ministry sources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Synthetic legal documents auto-generated with realistic templates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 references between rules, workflows and document types</a:t>
            </a:r>
            <a:endParaRPr lang="en-US" sz="1010" dirty="0"/>
          </a:p>
          <a:p>
            <a:pPr algn="l" indent="0" marL="0">
              <a:buNone/>
            </a:pPr>
            <a:r>
              <a:rPr lang="en-US" sz="1010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Used by agents to ground recommendations and checklists</a:t>
            </a:r>
            <a:endParaRPr lang="en-US" sz="1010" dirty="0"/>
          </a:p>
        </p:txBody>
      </p:sp>
      <p:sp>
        <p:nvSpPr>
          <p:cNvPr id="107" name="Text 105"/>
          <p:cNvSpPr/>
          <p:nvPr/>
        </p:nvSpPr>
        <p:spPr>
          <a:xfrm>
            <a:off x="960120" y="5486400"/>
            <a:ext cx="99669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Good defense sentence: the KB is not a vector buzzword here; it is a structured rule base that maps legal forms, required files, authorities, fees and workflow steps.</a:t>
            </a:r>
            <a:endParaRPr lang="en-US" sz="930" dirty="0"/>
          </a:p>
        </p:txBody>
      </p:sp>
      <p:sp>
        <p:nvSpPr>
          <p:cNvPr id="108" name="Text 106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3</a:t>
            </a:r>
            <a:endParaRPr lang="en-US" sz="8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1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A1 Architecture — Strategic Legal Advisor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startup profile to legal form, Startup Act score and 7-step administrative plan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627632"/>
            <a:ext cx="2971800" cy="9144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1865376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functionalities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51560" y="2148840"/>
            <a:ext cx="205740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Legal form recommendation: SARL / SUARL / SA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Startup Act eligibility score: 0-100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Admin checklist: institutions, fees, deadlines</a:t>
            </a:r>
            <a:endParaRPr lang="en-US" sz="830" dirty="0"/>
          </a:p>
          <a:p>
            <a:pPr algn="l" indent="0" marL="0">
              <a:buNone/>
            </a:pPr>
            <a:r>
              <a:rPr lang="en-US" sz="83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KB-grounded reasoning and rationale</a:t>
            </a:r>
            <a:endParaRPr lang="en-US" sz="830" dirty="0"/>
          </a:p>
        </p:txBody>
      </p:sp>
      <p:sp>
        <p:nvSpPr>
          <p:cNvPr id="103" name="Shape 101"/>
          <p:cNvSpPr/>
          <p:nvPr/>
        </p:nvSpPr>
        <p:spPr>
          <a:xfrm>
            <a:off x="777240" y="3246120"/>
            <a:ext cx="1572768" cy="685800"/>
          </a:xfrm>
          <a:prstGeom prst="roundRect">
            <a:avLst>
              <a:gd name="adj" fmla="val 10667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832104" y="3296412"/>
            <a:ext cx="1463040" cy="612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profile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sector, founders, funding, investors</a:t>
            </a:r>
            <a:endParaRPr lang="en-US" sz="840" dirty="0"/>
          </a:p>
        </p:txBody>
      </p:sp>
      <p:sp>
        <p:nvSpPr>
          <p:cNvPr id="105" name="Shape 103"/>
          <p:cNvSpPr/>
          <p:nvPr/>
        </p:nvSpPr>
        <p:spPr>
          <a:xfrm>
            <a:off x="2487168" y="3401568"/>
            <a:ext cx="50292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3127248" y="3246120"/>
            <a:ext cx="1645920" cy="685800"/>
          </a:xfrm>
          <a:prstGeom prst="roundRect">
            <a:avLst>
              <a:gd name="adj" fmla="val 10667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3182112" y="3296412"/>
            <a:ext cx="1536192" cy="6126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StrategicLegalAgent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orchestrated by TrackBOrchestrator</a:t>
            </a:r>
            <a:endParaRPr lang="en-US" sz="840" dirty="0"/>
          </a:p>
        </p:txBody>
      </p:sp>
      <p:sp>
        <p:nvSpPr>
          <p:cNvPr id="108" name="Shape 106"/>
          <p:cNvSpPr/>
          <p:nvPr/>
        </p:nvSpPr>
        <p:spPr>
          <a:xfrm>
            <a:off x="4919472" y="3063240"/>
            <a:ext cx="54864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4919472" y="3730752"/>
            <a:ext cx="54864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5577840" y="274320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FFE5B3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5632704" y="2793492"/>
            <a:ext cx="1216152" cy="4937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form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recommender</a:t>
            </a:r>
            <a:endParaRPr lang="en-US" sz="840" dirty="0"/>
          </a:p>
        </p:txBody>
      </p:sp>
      <p:sp>
        <p:nvSpPr>
          <p:cNvPr id="112" name="Shape 110"/>
          <p:cNvSpPr/>
          <p:nvPr/>
        </p:nvSpPr>
        <p:spPr>
          <a:xfrm>
            <a:off x="5577840" y="3703320"/>
            <a:ext cx="1325880" cy="566928"/>
          </a:xfrm>
          <a:prstGeom prst="roundRect">
            <a:avLst>
              <a:gd name="adj" fmla="val 12903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5632704" y="3753612"/>
            <a:ext cx="1216152" cy="49377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Act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</a:t>
            </a:r>
            <a:endParaRPr lang="en-US" sz="840" dirty="0"/>
          </a:p>
        </p:txBody>
      </p:sp>
      <p:sp>
        <p:nvSpPr>
          <p:cNvPr id="114" name="Shape 112"/>
          <p:cNvSpPr/>
          <p:nvPr/>
        </p:nvSpPr>
        <p:spPr>
          <a:xfrm>
            <a:off x="7059168" y="3246120"/>
            <a:ext cx="59436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7818120" y="3127248"/>
            <a:ext cx="1810512" cy="786384"/>
          </a:xfrm>
          <a:prstGeom prst="roundRect">
            <a:avLst>
              <a:gd name="adj" fmla="val 9302"/>
            </a:avLst>
          </a:prstGeom>
          <a:solidFill>
            <a:srgbClr val="E7D8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7872984" y="3177540"/>
            <a:ext cx="1700784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Knowledge Base</a:t>
            </a:r>
            <a:endParaRPr lang="en-US" sz="840" dirty="0"/>
          </a:p>
          <a:p>
            <a:pPr algn="ctr" indent="0" marL="0">
              <a:buNone/>
            </a:pPr>
            <a:r>
              <a:rPr lang="en-US" sz="8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rules, workflow, fees, authorities</a:t>
            </a:r>
            <a:endParaRPr lang="en-US" sz="840" dirty="0"/>
          </a:p>
        </p:txBody>
      </p:sp>
      <p:sp>
        <p:nvSpPr>
          <p:cNvPr id="117" name="Shape 115"/>
          <p:cNvSpPr/>
          <p:nvPr/>
        </p:nvSpPr>
        <p:spPr>
          <a:xfrm>
            <a:off x="9802368" y="3310128"/>
            <a:ext cx="502920" cy="320040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287000" y="3127248"/>
            <a:ext cx="1325880" cy="786384"/>
          </a:xfrm>
          <a:prstGeom prst="roundRect">
            <a:avLst>
              <a:gd name="adj" fmla="val 9302"/>
            </a:avLst>
          </a:prstGeom>
          <a:solidFill>
            <a:srgbClr val="F1C8BA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341864" y="3177540"/>
            <a:ext cx="1216152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recommendation</a:t>
            </a:r>
            <a:endParaRPr lang="en-US" sz="790" dirty="0"/>
          </a:p>
          <a:p>
            <a:pPr algn="ctr" indent="0" marL="0">
              <a:buNone/>
            </a:pPr>
            <a:r>
              <a:rPr lang="en-US" sz="79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admin checklist</a:t>
            </a:r>
            <a:endParaRPr lang="en-US" sz="790" dirty="0"/>
          </a:p>
        </p:txBody>
      </p:sp>
      <p:sp>
        <p:nvSpPr>
          <p:cNvPr id="120" name="Shape 118"/>
          <p:cNvSpPr/>
          <p:nvPr/>
        </p:nvSpPr>
        <p:spPr>
          <a:xfrm>
            <a:off x="2834640" y="5166360"/>
            <a:ext cx="6583680" cy="502920"/>
          </a:xfrm>
          <a:prstGeom prst="roundRect">
            <a:avLst>
              <a:gd name="adj" fmla="val 14545"/>
            </a:avLst>
          </a:prstGeom>
          <a:solidFill>
            <a:srgbClr val="6FB0E8"/>
          </a:solidFill>
          <a:ln w="13335">
            <a:solidFill>
              <a:srgbClr val="6FB0E8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063240" y="5367528"/>
            <a:ext cx="61264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example: SARL recommended | Startup Act score 78/100 | Estimated 21 days | Required documents listed</a:t>
            </a:r>
            <a:endParaRPr lang="en-US" sz="820" dirty="0"/>
          </a:p>
        </p:txBody>
      </p:sp>
      <p:sp>
        <p:nvSpPr>
          <p:cNvPr id="122" name="Text 120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4</a:t>
            </a:r>
            <a:endParaRPr lang="en-US" sz="8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AGENT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A2 Architecture — Intelligent Document Agent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 upload, OCR/parser fallback, type detection, verification, scoring and remediation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2057400"/>
            <a:ext cx="2148840" cy="1600200"/>
          </a:xfrm>
          <a:prstGeom prst="roundRect">
            <a:avLst>
              <a:gd name="adj" fmla="val 4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2286000"/>
            <a:ext cx="13716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Main sub-tasks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51560" y="2633472"/>
            <a:ext cx="1417320" cy="6583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OCR text extraction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PDF/DOCX/PPTX parsing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Document type detection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Signature/stamp checks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Cross-document validation</a:t>
            </a:r>
            <a:endParaRPr lang="en-US" sz="850" dirty="0"/>
          </a:p>
          <a:p>
            <a:pPr algn="l" indent="0" marL="0">
              <a:buNone/>
            </a:pPr>
            <a:r>
              <a:rPr lang="en-US" sz="85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PASS / WARNING / FAIL</a:t>
            </a:r>
            <a:endParaRPr lang="en-US" sz="850" dirty="0"/>
          </a:p>
        </p:txBody>
      </p:sp>
      <p:sp>
        <p:nvSpPr>
          <p:cNvPr id="103" name="Shape 101"/>
          <p:cNvSpPr/>
          <p:nvPr/>
        </p:nvSpPr>
        <p:spPr>
          <a:xfrm>
            <a:off x="365760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DDF0FB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371246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Document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upload</a:t>
            </a:r>
            <a:endParaRPr lang="en-US" sz="780" dirty="0"/>
          </a:p>
        </p:txBody>
      </p:sp>
      <p:sp>
        <p:nvSpPr>
          <p:cNvPr id="105" name="Shape 103"/>
          <p:cNvSpPr/>
          <p:nvPr/>
        </p:nvSpPr>
        <p:spPr>
          <a:xfrm>
            <a:off x="477316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516636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FFE5B3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522122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Text extraction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OCR/parser</a:t>
            </a:r>
            <a:endParaRPr lang="en-US" sz="780" dirty="0"/>
          </a:p>
        </p:txBody>
      </p:sp>
      <p:sp>
        <p:nvSpPr>
          <p:cNvPr id="108" name="Shape 106"/>
          <p:cNvSpPr/>
          <p:nvPr/>
        </p:nvSpPr>
        <p:spPr>
          <a:xfrm>
            <a:off x="628192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662940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0" name="Text 108"/>
          <p:cNvSpPr/>
          <p:nvPr/>
        </p:nvSpPr>
        <p:spPr>
          <a:xfrm>
            <a:off x="668426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Type detection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+ diagnostics</a:t>
            </a:r>
            <a:endParaRPr lang="en-US" sz="780" dirty="0"/>
          </a:p>
        </p:txBody>
      </p:sp>
      <p:sp>
        <p:nvSpPr>
          <p:cNvPr id="111" name="Shape 109"/>
          <p:cNvSpPr/>
          <p:nvPr/>
        </p:nvSpPr>
        <p:spPr>
          <a:xfrm>
            <a:off x="774496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813816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E7D8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819302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Visual / rule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verification</a:t>
            </a:r>
            <a:endParaRPr lang="en-US" sz="780" dirty="0"/>
          </a:p>
        </p:txBody>
      </p:sp>
      <p:sp>
        <p:nvSpPr>
          <p:cNvPr id="114" name="Shape 112"/>
          <p:cNvSpPr/>
          <p:nvPr/>
        </p:nvSpPr>
        <p:spPr>
          <a:xfrm>
            <a:off x="9253728" y="2148840"/>
            <a:ext cx="411480" cy="256032"/>
          </a:xfrm>
          <a:prstGeom prst="right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9646920" y="1965960"/>
            <a:ext cx="1051560" cy="713232"/>
          </a:xfrm>
          <a:prstGeom prst="roundRect">
            <a:avLst>
              <a:gd name="adj" fmla="val 10256"/>
            </a:avLst>
          </a:prstGeom>
          <a:solidFill>
            <a:srgbClr val="C7CF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9701784" y="2016252"/>
            <a:ext cx="941832" cy="6400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Compliance</a:t>
            </a:r>
            <a:endParaRPr lang="en-US" sz="780" dirty="0"/>
          </a:p>
          <a:p>
            <a:pPr algn="ctr" indent="0" marL="0">
              <a:buNone/>
            </a:pPr>
            <a:r>
              <a:rPr lang="en-US" sz="78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scorer</a:t>
            </a:r>
            <a:endParaRPr lang="en-US" sz="780" dirty="0"/>
          </a:p>
        </p:txBody>
      </p:sp>
      <p:sp>
        <p:nvSpPr>
          <p:cNvPr id="117" name="Shape 115"/>
          <p:cNvSpPr/>
          <p:nvPr/>
        </p:nvSpPr>
        <p:spPr>
          <a:xfrm>
            <a:off x="10058400" y="2834640"/>
            <a:ext cx="219456" cy="502920"/>
          </a:xfrm>
          <a:prstGeom prst="downArrow">
            <a:avLst/>
          </a:prstGeom>
          <a:solidFill>
            <a:srgbClr val="3890BC"/>
          </a:solidFill>
          <a:ln w="12700">
            <a:solidFill>
              <a:srgbClr val="3890BC">
                <a:alpha val="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3657600" y="4069080"/>
            <a:ext cx="7178040" cy="914400"/>
          </a:xfrm>
          <a:prstGeom prst="roundRect">
            <a:avLst>
              <a:gd name="adj" fmla="val 8000"/>
            </a:avLst>
          </a:prstGeom>
          <a:solidFill>
            <a:srgbClr val="6BB7EA"/>
          </a:solidFill>
          <a:ln w="13335">
            <a:solidFill>
              <a:srgbClr val="6BB7EA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6035040" y="4297680"/>
            <a:ext cx="1280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Compliance Report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4224528" y="4645152"/>
            <a:ext cx="60350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20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PASS / WARNING / FAIL + completeness score + missing documents + risk score + remediation actions</a:t>
            </a:r>
            <a:endParaRPr lang="en-US" sz="820" dirty="0"/>
          </a:p>
        </p:txBody>
      </p:sp>
      <p:sp>
        <p:nvSpPr>
          <p:cNvPr id="121" name="Shape 119"/>
          <p:cNvSpPr/>
          <p:nvPr/>
        </p:nvSpPr>
        <p:spPr>
          <a:xfrm>
            <a:off x="914400" y="5166360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960120" y="5234940"/>
            <a:ext cx="224028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 field</a:t>
            </a:r>
            <a:endParaRPr lang="en-US" sz="760" dirty="0"/>
          </a:p>
        </p:txBody>
      </p:sp>
      <p:sp>
        <p:nvSpPr>
          <p:cNvPr id="123" name="Shape 121"/>
          <p:cNvSpPr/>
          <p:nvPr/>
        </p:nvSpPr>
        <p:spPr>
          <a:xfrm>
            <a:off x="3255264" y="5166360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3300984" y="5234940"/>
            <a:ext cx="66751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Meaning</a:t>
            </a:r>
            <a:endParaRPr lang="en-US" sz="760" dirty="0"/>
          </a:p>
        </p:txBody>
      </p:sp>
      <p:sp>
        <p:nvSpPr>
          <p:cNvPr id="125" name="Shape 123"/>
          <p:cNvSpPr/>
          <p:nvPr/>
        </p:nvSpPr>
        <p:spPr>
          <a:xfrm>
            <a:off x="914400" y="5431536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960120" y="5495544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overall_completeness_score</a:t>
            </a:r>
            <a:endParaRPr lang="en-US" sz="735" dirty="0"/>
          </a:p>
        </p:txBody>
      </p:sp>
      <p:sp>
        <p:nvSpPr>
          <p:cNvPr id="127" name="Shape 125"/>
          <p:cNvSpPr/>
          <p:nvPr/>
        </p:nvSpPr>
        <p:spPr>
          <a:xfrm>
            <a:off x="3255264" y="5431536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300984" y="5495544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global file readiness from 0 to 100</a:t>
            </a:r>
            <a:endParaRPr lang="en-US" sz="735" dirty="0"/>
          </a:p>
        </p:txBody>
      </p:sp>
      <p:sp>
        <p:nvSpPr>
          <p:cNvPr id="129" name="Shape 127"/>
          <p:cNvSpPr/>
          <p:nvPr/>
        </p:nvSpPr>
        <p:spPr>
          <a:xfrm>
            <a:off x="914400" y="5696712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0" name="Text 128"/>
          <p:cNvSpPr/>
          <p:nvPr/>
        </p:nvSpPr>
        <p:spPr>
          <a:xfrm>
            <a:off x="960120" y="5760720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missing_documents</a:t>
            </a:r>
            <a:endParaRPr lang="en-US" sz="735" dirty="0"/>
          </a:p>
        </p:txBody>
      </p:sp>
      <p:sp>
        <p:nvSpPr>
          <p:cNvPr id="131" name="Shape 129"/>
          <p:cNvSpPr/>
          <p:nvPr/>
        </p:nvSpPr>
        <p:spPr>
          <a:xfrm>
            <a:off x="3255264" y="5696712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2" name="Text 130"/>
          <p:cNvSpPr/>
          <p:nvPr/>
        </p:nvSpPr>
        <p:spPr>
          <a:xfrm>
            <a:off x="3300984" y="5760720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required legal files not uploaded</a:t>
            </a:r>
            <a:endParaRPr lang="en-US" sz="735" dirty="0"/>
          </a:p>
        </p:txBody>
      </p:sp>
      <p:sp>
        <p:nvSpPr>
          <p:cNvPr id="133" name="Shape 131"/>
          <p:cNvSpPr/>
          <p:nvPr/>
        </p:nvSpPr>
        <p:spPr>
          <a:xfrm>
            <a:off x="914400" y="5961888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4" name="Text 132"/>
          <p:cNvSpPr/>
          <p:nvPr/>
        </p:nvSpPr>
        <p:spPr>
          <a:xfrm>
            <a:off x="960120" y="6025896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cross_document_validations</a:t>
            </a:r>
            <a:endParaRPr lang="en-US" sz="735" dirty="0"/>
          </a:p>
        </p:txBody>
      </p:sp>
      <p:sp>
        <p:nvSpPr>
          <p:cNvPr id="135" name="Shape 133"/>
          <p:cNvSpPr/>
          <p:nvPr/>
        </p:nvSpPr>
        <p:spPr>
          <a:xfrm>
            <a:off x="3255264" y="5961888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6" name="Text 134"/>
          <p:cNvSpPr/>
          <p:nvPr/>
        </p:nvSpPr>
        <p:spPr>
          <a:xfrm>
            <a:off x="3300984" y="6025896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consistency checks across files</a:t>
            </a:r>
            <a:endParaRPr lang="en-US" sz="735" dirty="0"/>
          </a:p>
        </p:txBody>
      </p:sp>
      <p:sp>
        <p:nvSpPr>
          <p:cNvPr id="137" name="Shape 135"/>
          <p:cNvSpPr/>
          <p:nvPr/>
        </p:nvSpPr>
        <p:spPr>
          <a:xfrm>
            <a:off x="914400" y="6227064"/>
            <a:ext cx="233172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960120" y="6291072"/>
            <a:ext cx="224028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strict_fail / strict_violations</a:t>
            </a:r>
            <a:endParaRPr lang="en-US" sz="735" dirty="0"/>
          </a:p>
        </p:txBody>
      </p:sp>
      <p:sp>
        <p:nvSpPr>
          <p:cNvPr id="139" name="Shape 137"/>
          <p:cNvSpPr/>
          <p:nvPr/>
        </p:nvSpPr>
        <p:spPr>
          <a:xfrm>
            <a:off x="3255264" y="6227064"/>
            <a:ext cx="6766560" cy="265176"/>
          </a:xfrm>
          <a:prstGeom prst="roundRect">
            <a:avLst>
              <a:gd name="adj" fmla="val 27586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0" name="Text 138"/>
          <p:cNvSpPr/>
          <p:nvPr/>
        </p:nvSpPr>
        <p:spPr>
          <a:xfrm>
            <a:off x="3300984" y="6291072"/>
            <a:ext cx="6675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blocking issues in strict mode</a:t>
            </a:r>
            <a:endParaRPr lang="en-US" sz="735" dirty="0"/>
          </a:p>
        </p:txBody>
      </p:sp>
      <p:sp>
        <p:nvSpPr>
          <p:cNvPr id="141" name="Text 139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5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— Ecosystem Intelligence Vision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Phase 2 extension: from legal readiness to strategic networking, investors, mentors and events</a:t>
            </a:r>
            <a:endParaRPr lang="en-US" sz="1080" dirty="0"/>
          </a:p>
        </p:txBody>
      </p:sp>
      <p:sp>
        <p:nvSpPr>
          <p:cNvPr id="100" name="Text 98"/>
          <p:cNvSpPr/>
          <p:nvPr/>
        </p:nvSpPr>
        <p:spPr>
          <a:xfrm>
            <a:off x="2926080" y="1600200"/>
            <a:ext cx="63093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930" b="1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From legal compliance -&gt; ecosystem growth, investors, mentors and strategic events.</a:t>
            </a:r>
            <a:endParaRPr lang="en-US" sz="930" dirty="0"/>
          </a:p>
        </p:txBody>
      </p:sp>
      <p:sp>
        <p:nvSpPr>
          <p:cNvPr id="101" name="Shape 99"/>
          <p:cNvSpPr/>
          <p:nvPr/>
        </p:nvSpPr>
        <p:spPr>
          <a:xfrm>
            <a:off x="1005840" y="23317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1234440" y="25146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3" name="Text 101"/>
          <p:cNvSpPr/>
          <p:nvPr/>
        </p:nvSpPr>
        <p:spPr>
          <a:xfrm>
            <a:off x="1344168" y="26883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D1</a:t>
            </a:r>
            <a:endParaRPr lang="en-US" sz="880" dirty="0"/>
          </a:p>
        </p:txBody>
      </p:sp>
      <p:sp>
        <p:nvSpPr>
          <p:cNvPr id="104" name="Text 102"/>
          <p:cNvSpPr/>
          <p:nvPr/>
        </p:nvSpPr>
        <p:spPr>
          <a:xfrm>
            <a:off x="2240280" y="25877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Predictive Matching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2240280" y="28986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Mentor/investor matching with fit probability and explainable scoring.</a:t>
            </a:r>
            <a:endParaRPr lang="en-US" sz="790" dirty="0"/>
          </a:p>
        </p:txBody>
      </p:sp>
      <p:sp>
        <p:nvSpPr>
          <p:cNvPr id="106" name="Shape 104"/>
          <p:cNvSpPr/>
          <p:nvPr/>
        </p:nvSpPr>
        <p:spPr>
          <a:xfrm>
            <a:off x="6400800" y="23317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6FC4ED"/>
          </a:solidFill>
          <a:ln w="13335">
            <a:solidFill>
              <a:srgbClr val="6FC4ED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629400" y="25146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6739128" y="26883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D2</a:t>
            </a:r>
            <a:endParaRPr lang="en-US" sz="880" dirty="0"/>
          </a:p>
        </p:txBody>
      </p:sp>
      <p:sp>
        <p:nvSpPr>
          <p:cNvPr id="109" name="Text 107"/>
          <p:cNvSpPr/>
          <p:nvPr/>
        </p:nvSpPr>
        <p:spPr>
          <a:xfrm>
            <a:off x="7635240" y="25877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Strategic Event Intelligence</a:t>
            </a:r>
            <a:endParaRPr lang="en-US" sz="1200" dirty="0"/>
          </a:p>
        </p:txBody>
      </p:sp>
      <p:sp>
        <p:nvSpPr>
          <p:cNvPr id="110" name="Text 108"/>
          <p:cNvSpPr/>
          <p:nvPr/>
        </p:nvSpPr>
        <p:spPr>
          <a:xfrm>
            <a:off x="7635240" y="28986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ranking by ROI, startup stage, sector and target presence.</a:t>
            </a:r>
            <a:endParaRPr lang="en-US" sz="790" dirty="0"/>
          </a:p>
        </p:txBody>
      </p:sp>
      <p:sp>
        <p:nvSpPr>
          <p:cNvPr id="111" name="Shape 109"/>
          <p:cNvSpPr/>
          <p:nvPr/>
        </p:nvSpPr>
        <p:spPr>
          <a:xfrm>
            <a:off x="1005840" y="39319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CDEBCF"/>
          </a:solidFill>
          <a:ln w="13335">
            <a:solidFill>
              <a:srgbClr val="CDEBCF"/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1234440" y="41148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44168" y="42885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P2-3</a:t>
            </a:r>
            <a:endParaRPr lang="en-US" sz="880" dirty="0"/>
          </a:p>
        </p:txBody>
      </p:sp>
      <p:sp>
        <p:nvSpPr>
          <p:cNvPr id="114" name="Text 112"/>
          <p:cNvSpPr/>
          <p:nvPr/>
        </p:nvSpPr>
        <p:spPr>
          <a:xfrm>
            <a:off x="224028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Ecosystem Graph</a:t>
            </a:r>
            <a:endParaRPr lang="en-US" sz="1200" dirty="0"/>
          </a:p>
        </p:txBody>
      </p:sp>
      <p:sp>
        <p:nvSpPr>
          <p:cNvPr id="115" name="Text 113"/>
          <p:cNvSpPr/>
          <p:nvPr/>
        </p:nvSpPr>
        <p:spPr>
          <a:xfrm>
            <a:off x="2240280" y="44988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 position analysis: centrality, bridges, shortest path, warm intros.</a:t>
            </a:r>
            <a:endParaRPr lang="en-US" sz="790" dirty="0"/>
          </a:p>
        </p:txBody>
      </p:sp>
      <p:sp>
        <p:nvSpPr>
          <p:cNvPr id="116" name="Shape 114"/>
          <p:cNvSpPr/>
          <p:nvPr/>
        </p:nvSpPr>
        <p:spPr>
          <a:xfrm>
            <a:off x="6400800" y="3931920"/>
            <a:ext cx="4480560" cy="896112"/>
          </a:xfrm>
          <a:prstGeom prst="roundRect">
            <a:avLst>
              <a:gd name="adj" fmla="val 8163"/>
            </a:avLst>
          </a:prstGeom>
          <a:solidFill>
            <a:srgbClr val="E9C4EA"/>
          </a:solidFill>
          <a:ln w="13335">
            <a:solidFill>
              <a:srgbClr val="E9C4EA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6629400" y="4114800"/>
            <a:ext cx="530352" cy="530352"/>
          </a:xfrm>
          <a:prstGeom prst="ellipse">
            <a:avLst/>
          </a:prstGeom>
          <a:solidFill>
            <a:srgbClr val="233E68"/>
          </a:solidFill>
          <a:ln w="16510">
            <a:solidFill>
              <a:srgbClr val="FFFFFF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6739128" y="4288536"/>
            <a:ext cx="310896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P2-4</a:t>
            </a:r>
            <a:endParaRPr lang="en-US" sz="880" dirty="0"/>
          </a:p>
        </p:txBody>
      </p:sp>
      <p:sp>
        <p:nvSpPr>
          <p:cNvPr id="119" name="Text 117"/>
          <p:cNvSpPr/>
          <p:nvPr/>
        </p:nvSpPr>
        <p:spPr>
          <a:xfrm>
            <a:off x="7635240" y="418795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Relationship Health</a:t>
            </a:r>
            <a:endParaRPr lang="en-US" sz="1200" dirty="0"/>
          </a:p>
        </p:txBody>
      </p:sp>
      <p:sp>
        <p:nvSpPr>
          <p:cNvPr id="120" name="Text 118"/>
          <p:cNvSpPr/>
          <p:nvPr/>
        </p:nvSpPr>
        <p:spPr>
          <a:xfrm>
            <a:off x="7635240" y="4498848"/>
            <a:ext cx="274320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9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Follow-up timing, decay risk, engagement quality and CRM auto-update.</a:t>
            </a:r>
            <a:endParaRPr lang="en-US" sz="790" dirty="0"/>
          </a:p>
        </p:txBody>
      </p:sp>
      <p:sp>
        <p:nvSpPr>
          <p:cNvPr id="121" name="Shape 119"/>
          <p:cNvSpPr/>
          <p:nvPr/>
        </p:nvSpPr>
        <p:spPr>
          <a:xfrm>
            <a:off x="1920240" y="5559552"/>
            <a:ext cx="8138160" cy="457200"/>
          </a:xfrm>
          <a:prstGeom prst="roundRect">
            <a:avLst>
              <a:gd name="adj" fmla="val 16000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22" name="Text 120"/>
          <p:cNvSpPr/>
          <p:nvPr/>
        </p:nvSpPr>
        <p:spPr>
          <a:xfrm>
            <a:off x="2148840" y="5715000"/>
            <a:ext cx="7635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9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Position it honestly: Phase 2 is a proposed ecosystem module that extends Track B research results into real ecosystem intelligence.</a:t>
            </a:r>
            <a:endParaRPr lang="en-US" sz="890" dirty="0"/>
          </a:p>
        </p:txBody>
      </p:sp>
      <p:sp>
        <p:nvSpPr>
          <p:cNvPr id="123" name="Text 121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6</a:t>
            </a:r>
            <a:endParaRPr lang="en-US" sz="8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P2-1/P2-2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P2-1 + P2-2 Architecture — Matching and Event Intelligence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who can help the startup and which ecosystem events deserve attention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822960" y="1691640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22960" y="169164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377440" y="1901952"/>
            <a:ext cx="182880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P2-1 — Predictive Matching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2331720" y="2487168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1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probability of successful collaboration</a:t>
            </a:r>
            <a:endParaRPr lang="en-US" sz="810" dirty="0"/>
          </a:p>
        </p:txBody>
      </p:sp>
      <p:sp>
        <p:nvSpPr>
          <p:cNvPr id="104" name="Text 102"/>
          <p:cNvSpPr/>
          <p:nvPr/>
        </p:nvSpPr>
        <p:spPr>
          <a:xfrm>
            <a:off x="1234440" y="2880360"/>
            <a:ext cx="3429000" cy="8046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Sector alignment analysis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Stage compatibility: seed / Series A / idea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Funding size vs investor ticket comparison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Skill complementarity scoring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Historical pattern weighting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ML probability prediction + explainability</a:t>
            </a:r>
            <a:endParaRPr lang="en-US" sz="820" dirty="0"/>
          </a:p>
        </p:txBody>
      </p:sp>
      <p:sp>
        <p:nvSpPr>
          <p:cNvPr id="105" name="Text 103"/>
          <p:cNvSpPr/>
          <p:nvPr/>
        </p:nvSpPr>
        <p:spPr>
          <a:xfrm>
            <a:off x="1234440" y="4251960"/>
            <a:ext cx="356616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Investor A -&gt; 64% funding probability + reason codes</a:t>
            </a:r>
            <a:endParaRPr lang="en-US" sz="830" dirty="0"/>
          </a:p>
        </p:txBody>
      </p:sp>
      <p:sp>
        <p:nvSpPr>
          <p:cNvPr id="106" name="Shape 104"/>
          <p:cNvSpPr/>
          <p:nvPr/>
        </p:nvSpPr>
        <p:spPr>
          <a:xfrm>
            <a:off x="6309360" y="1691640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309360" y="1691640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FE5B3"/>
          </a:solidFill>
          <a:ln w="13335">
            <a:solidFill>
              <a:srgbClr val="FFE5B3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62672" y="1901952"/>
            <a:ext cx="233172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P2-2 — Strategic Event Intelligence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7909560" y="2487168"/>
            <a:ext cx="18288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1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Select events with highest strategic ROI</a:t>
            </a:r>
            <a:endParaRPr lang="en-US" sz="810" dirty="0"/>
          </a:p>
        </p:txBody>
      </p:sp>
      <p:sp>
        <p:nvSpPr>
          <p:cNvPr id="110" name="Text 108"/>
          <p:cNvSpPr/>
          <p:nvPr/>
        </p:nvSpPr>
        <p:spPr>
          <a:xfrm>
            <a:off x="6720840" y="2880360"/>
            <a:ext cx="3429000" cy="8046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Filtering by sector and startup stage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Investor / mentor presence scoring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Networking exposure estimation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Deadline and location feasibility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Impact score generation</a:t>
            </a:r>
            <a:endParaRPr lang="en-US" sz="820" dirty="0"/>
          </a:p>
          <a:p>
            <a:pPr algn="l" indent="0" marL="0">
              <a:buNone/>
            </a:pPr>
            <a:r>
              <a:rPr lang="en-US" sz="820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Relevance ranking with explanation</a:t>
            </a:r>
            <a:endParaRPr lang="en-US" sz="820" dirty="0"/>
          </a:p>
        </p:txBody>
      </p:sp>
      <p:sp>
        <p:nvSpPr>
          <p:cNvPr id="111" name="Text 109"/>
          <p:cNvSpPr/>
          <p:nvPr/>
        </p:nvSpPr>
        <p:spPr>
          <a:xfrm>
            <a:off x="6720840" y="4251960"/>
            <a:ext cx="356616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Event X -&gt; high exposure to 8 target investors</a:t>
            </a:r>
            <a:endParaRPr lang="en-US" sz="830" dirty="0"/>
          </a:p>
        </p:txBody>
      </p:sp>
      <p:sp>
        <p:nvSpPr>
          <p:cNvPr id="112" name="Shape 110"/>
          <p:cNvSpPr/>
          <p:nvPr/>
        </p:nvSpPr>
        <p:spPr>
          <a:xfrm>
            <a:off x="1280160" y="5257800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325880" y="5326380"/>
            <a:ext cx="17373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Shared input</a:t>
            </a:r>
            <a:endParaRPr lang="en-US" sz="760" dirty="0"/>
          </a:p>
        </p:txBody>
      </p:sp>
      <p:sp>
        <p:nvSpPr>
          <p:cNvPr id="114" name="Shape 112"/>
          <p:cNvSpPr/>
          <p:nvPr/>
        </p:nvSpPr>
        <p:spPr>
          <a:xfrm>
            <a:off x="3118104" y="5257800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163824" y="5326380"/>
            <a:ext cx="274320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Feature engineering</a:t>
            </a:r>
            <a:endParaRPr lang="en-US" sz="760" dirty="0"/>
          </a:p>
        </p:txBody>
      </p:sp>
      <p:sp>
        <p:nvSpPr>
          <p:cNvPr id="116" name="Shape 114"/>
          <p:cNvSpPr/>
          <p:nvPr/>
        </p:nvSpPr>
        <p:spPr>
          <a:xfrm>
            <a:off x="5961888" y="5257800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6007608" y="5326380"/>
            <a:ext cx="19202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Model / score</a:t>
            </a:r>
            <a:endParaRPr lang="en-US" sz="760" dirty="0"/>
          </a:p>
        </p:txBody>
      </p:sp>
      <p:sp>
        <p:nvSpPr>
          <p:cNvPr id="118" name="Shape 116"/>
          <p:cNvSpPr/>
          <p:nvPr/>
        </p:nvSpPr>
        <p:spPr>
          <a:xfrm>
            <a:off x="7982712" y="5257800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8028432" y="5326380"/>
            <a:ext cx="23774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Returned object</a:t>
            </a:r>
            <a:endParaRPr lang="en-US" sz="760" dirty="0"/>
          </a:p>
        </p:txBody>
      </p:sp>
      <p:sp>
        <p:nvSpPr>
          <p:cNvPr id="120" name="Shape 118"/>
          <p:cNvSpPr/>
          <p:nvPr/>
        </p:nvSpPr>
        <p:spPr>
          <a:xfrm>
            <a:off x="1280160" y="5513832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1325880" y="5577840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startup profile</a:t>
            </a:r>
            <a:endParaRPr lang="en-US" sz="735" dirty="0"/>
          </a:p>
        </p:txBody>
      </p:sp>
      <p:sp>
        <p:nvSpPr>
          <p:cNvPr id="122" name="Shape 120"/>
          <p:cNvSpPr/>
          <p:nvPr/>
        </p:nvSpPr>
        <p:spPr>
          <a:xfrm>
            <a:off x="3118104" y="5513832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3163824" y="5577840"/>
            <a:ext cx="27432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sector, stage, needs</a:t>
            </a:r>
            <a:endParaRPr lang="en-US" sz="735" dirty="0"/>
          </a:p>
        </p:txBody>
      </p:sp>
      <p:sp>
        <p:nvSpPr>
          <p:cNvPr id="124" name="Shape 122"/>
          <p:cNvSpPr/>
          <p:nvPr/>
        </p:nvSpPr>
        <p:spPr>
          <a:xfrm>
            <a:off x="5961888" y="5513832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6007608" y="5577840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weighted score / ML</a:t>
            </a:r>
            <a:endParaRPr lang="en-US" sz="735" dirty="0"/>
          </a:p>
        </p:txBody>
      </p:sp>
      <p:sp>
        <p:nvSpPr>
          <p:cNvPr id="126" name="Shape 124"/>
          <p:cNvSpPr/>
          <p:nvPr/>
        </p:nvSpPr>
        <p:spPr>
          <a:xfrm>
            <a:off x="7982712" y="5513832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8028432" y="5577840"/>
            <a:ext cx="2377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ranked matches</a:t>
            </a:r>
            <a:endParaRPr lang="en-US" sz="735" dirty="0"/>
          </a:p>
        </p:txBody>
      </p:sp>
      <p:sp>
        <p:nvSpPr>
          <p:cNvPr id="128" name="Shape 126"/>
          <p:cNvSpPr/>
          <p:nvPr/>
        </p:nvSpPr>
        <p:spPr>
          <a:xfrm>
            <a:off x="1280160" y="5769864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1325880" y="5833872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Track B readiness</a:t>
            </a:r>
            <a:endParaRPr lang="en-US" sz="735" dirty="0"/>
          </a:p>
        </p:txBody>
      </p:sp>
      <p:sp>
        <p:nvSpPr>
          <p:cNvPr id="130" name="Shape 128"/>
          <p:cNvSpPr/>
          <p:nvPr/>
        </p:nvSpPr>
        <p:spPr>
          <a:xfrm>
            <a:off x="3118104" y="5769864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3163824" y="5833872"/>
            <a:ext cx="27432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legal status, blockers</a:t>
            </a:r>
            <a:endParaRPr lang="en-US" sz="735" dirty="0"/>
          </a:p>
        </p:txBody>
      </p:sp>
      <p:sp>
        <p:nvSpPr>
          <p:cNvPr id="132" name="Shape 130"/>
          <p:cNvSpPr/>
          <p:nvPr/>
        </p:nvSpPr>
        <p:spPr>
          <a:xfrm>
            <a:off x="5961888" y="5769864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007608" y="5833872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eligibility filter</a:t>
            </a:r>
            <a:endParaRPr lang="en-US" sz="735" dirty="0"/>
          </a:p>
        </p:txBody>
      </p:sp>
      <p:sp>
        <p:nvSpPr>
          <p:cNvPr id="134" name="Shape 132"/>
          <p:cNvSpPr/>
          <p:nvPr/>
        </p:nvSpPr>
        <p:spPr>
          <a:xfrm>
            <a:off x="7982712" y="5769864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8028432" y="5833872"/>
            <a:ext cx="2377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 outreach list</a:t>
            </a:r>
            <a:endParaRPr lang="en-US" sz="735" dirty="0"/>
          </a:p>
        </p:txBody>
      </p:sp>
      <p:sp>
        <p:nvSpPr>
          <p:cNvPr id="136" name="Shape 134"/>
          <p:cNvSpPr/>
          <p:nvPr/>
        </p:nvSpPr>
        <p:spPr>
          <a:xfrm>
            <a:off x="1280160" y="6025896"/>
            <a:ext cx="182880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325880" y="6089904"/>
            <a:ext cx="17373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ecosystem sources</a:t>
            </a:r>
            <a:endParaRPr lang="en-US" sz="735" dirty="0"/>
          </a:p>
        </p:txBody>
      </p:sp>
      <p:sp>
        <p:nvSpPr>
          <p:cNvPr id="138" name="Shape 136"/>
          <p:cNvSpPr/>
          <p:nvPr/>
        </p:nvSpPr>
        <p:spPr>
          <a:xfrm>
            <a:off x="3118104" y="6025896"/>
            <a:ext cx="283464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163824" y="6089904"/>
            <a:ext cx="274320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LinkedIn/events/web</a:t>
            </a:r>
            <a:endParaRPr lang="en-US" sz="735" dirty="0"/>
          </a:p>
        </p:txBody>
      </p:sp>
      <p:sp>
        <p:nvSpPr>
          <p:cNvPr id="140" name="Shape 138"/>
          <p:cNvSpPr/>
          <p:nvPr/>
        </p:nvSpPr>
        <p:spPr>
          <a:xfrm>
            <a:off x="5961888" y="6025896"/>
            <a:ext cx="20116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6007608" y="6089904"/>
            <a:ext cx="19202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presence score</a:t>
            </a:r>
            <a:endParaRPr lang="en-US" sz="735" dirty="0"/>
          </a:p>
        </p:txBody>
      </p:sp>
      <p:sp>
        <p:nvSpPr>
          <p:cNvPr id="142" name="Shape 140"/>
          <p:cNvSpPr/>
          <p:nvPr/>
        </p:nvSpPr>
        <p:spPr>
          <a:xfrm>
            <a:off x="7982712" y="6025896"/>
            <a:ext cx="2468880" cy="256032"/>
          </a:xfrm>
          <a:prstGeom prst="roundRect">
            <a:avLst>
              <a:gd name="adj" fmla="val 28571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8028432" y="6089904"/>
            <a:ext cx="2377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event recommendation</a:t>
            </a:r>
            <a:endParaRPr lang="en-US" sz="735" dirty="0"/>
          </a:p>
        </p:txBody>
      </p:sp>
      <p:sp>
        <p:nvSpPr>
          <p:cNvPr id="144" name="Text 14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7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P2-3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P2-3 Ecosystem Graph — Network Reasoning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 algorithms for centrality, warm introductions, bridge detection and opportunity discovery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1051560" y="16916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4173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Centrality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325880" y="2221992"/>
            <a:ext cx="19202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PageRank, Betweenness</a:t>
            </a:r>
            <a:endParaRPr lang="en-US" sz="780" dirty="0"/>
          </a:p>
        </p:txBody>
      </p:sp>
      <p:sp>
        <p:nvSpPr>
          <p:cNvPr id="103" name="Shape 101"/>
          <p:cNvSpPr/>
          <p:nvPr/>
        </p:nvSpPr>
        <p:spPr>
          <a:xfrm>
            <a:off x="4709160" y="16916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CDEBCF"/>
          </a:solidFill>
          <a:ln w="13335">
            <a:solidFill>
              <a:srgbClr val="CDEBCF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50749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Shortest Path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4983480" y="2221992"/>
            <a:ext cx="19202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BFS / Dijkstra</a:t>
            </a:r>
            <a:endParaRPr lang="en-US" sz="780" dirty="0"/>
          </a:p>
        </p:txBody>
      </p:sp>
      <p:sp>
        <p:nvSpPr>
          <p:cNvPr id="106" name="Shape 104"/>
          <p:cNvSpPr/>
          <p:nvPr/>
        </p:nvSpPr>
        <p:spPr>
          <a:xfrm>
            <a:off x="8366760" y="1691640"/>
            <a:ext cx="2971800" cy="658368"/>
          </a:xfrm>
          <a:prstGeom prst="roundRect">
            <a:avLst>
              <a:gd name="adj" fmla="val 11111"/>
            </a:avLst>
          </a:prstGeom>
          <a:solidFill>
            <a:srgbClr val="E9C4EA"/>
          </a:solidFill>
          <a:ln w="13335">
            <a:solidFill>
              <a:srgbClr val="E9C4EA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8732520" y="1901952"/>
            <a:ext cx="15544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Bridge Detection</a:t>
            </a:r>
            <a:endParaRPr lang="en-US" sz="1200" dirty="0"/>
          </a:p>
        </p:txBody>
      </p:sp>
      <p:sp>
        <p:nvSpPr>
          <p:cNvPr id="108" name="Text 106"/>
          <p:cNvSpPr/>
          <p:nvPr/>
        </p:nvSpPr>
        <p:spPr>
          <a:xfrm>
            <a:off x="8641080" y="2221992"/>
            <a:ext cx="19202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i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Community algorithms</a:t>
            </a:r>
            <a:endParaRPr lang="en-US" sz="780" dirty="0"/>
          </a:p>
        </p:txBody>
      </p:sp>
      <p:sp>
        <p:nvSpPr>
          <p:cNvPr id="109" name="Shape 107"/>
          <p:cNvSpPr/>
          <p:nvPr/>
        </p:nvSpPr>
        <p:spPr>
          <a:xfrm>
            <a:off x="1828800" y="4480560"/>
            <a:ext cx="640080" cy="-86868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2468880" y="3611880"/>
            <a:ext cx="640080" cy="68580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1" name="Shape 109"/>
          <p:cNvSpPr/>
          <p:nvPr/>
        </p:nvSpPr>
        <p:spPr>
          <a:xfrm>
            <a:off x="3108960" y="4297680"/>
            <a:ext cx="640080" cy="-10515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2" name="Shape 110"/>
          <p:cNvSpPr/>
          <p:nvPr/>
        </p:nvSpPr>
        <p:spPr>
          <a:xfrm>
            <a:off x="3749040" y="3246120"/>
            <a:ext cx="822960" cy="7315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4572000" y="3977640"/>
            <a:ext cx="731520" cy="-5943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5303520" y="3383280"/>
            <a:ext cx="731520" cy="5943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5" name="Shape 113"/>
          <p:cNvSpPr/>
          <p:nvPr/>
        </p:nvSpPr>
        <p:spPr>
          <a:xfrm>
            <a:off x="6035040" y="3977640"/>
            <a:ext cx="548640" cy="-64008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6" name="Shape 114"/>
          <p:cNvSpPr/>
          <p:nvPr/>
        </p:nvSpPr>
        <p:spPr>
          <a:xfrm>
            <a:off x="6583680" y="3337560"/>
            <a:ext cx="822960" cy="8229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7406640" y="4160520"/>
            <a:ext cx="640080" cy="-7315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8046720" y="3429000"/>
            <a:ext cx="640080" cy="64008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19" name="Shape 117"/>
          <p:cNvSpPr/>
          <p:nvPr/>
        </p:nvSpPr>
        <p:spPr>
          <a:xfrm>
            <a:off x="8686800" y="4069080"/>
            <a:ext cx="640080" cy="-8229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3749040" y="3246120"/>
            <a:ext cx="2286000" cy="7315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5303520" y="3383280"/>
            <a:ext cx="1280160" cy="-4572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2468880" y="3611880"/>
            <a:ext cx="2103120" cy="36576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406640" y="4160520"/>
            <a:ext cx="1920240" cy="-914400"/>
          </a:xfrm>
          <a:prstGeom prst="line">
            <a:avLst/>
          </a:prstGeom>
          <a:noFill/>
          <a:ln w="8890">
            <a:solidFill>
              <a:srgbClr val="3890BC">
                <a:alpha val="75000"/>
              </a:srgbClr>
            </a:solidFill>
            <a:prstDash val="solid"/>
          </a:ln>
        </p:spPr>
      </p:sp>
      <p:sp>
        <p:nvSpPr>
          <p:cNvPr id="124" name="Shape 122"/>
          <p:cNvSpPr/>
          <p:nvPr/>
        </p:nvSpPr>
        <p:spPr>
          <a:xfrm>
            <a:off x="1755648" y="440740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2395728" y="35387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3035808" y="42245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7" name="Shape 125"/>
          <p:cNvSpPr/>
          <p:nvPr/>
        </p:nvSpPr>
        <p:spPr>
          <a:xfrm>
            <a:off x="3675888" y="3172968"/>
            <a:ext cx="146304" cy="146304"/>
          </a:xfrm>
          <a:prstGeom prst="ellipse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28" name="Text 126"/>
          <p:cNvSpPr/>
          <p:nvPr/>
        </p:nvSpPr>
        <p:spPr>
          <a:xfrm>
            <a:off x="3721608" y="3218688"/>
            <a:ext cx="54864" cy="548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700" dirty="0"/>
          </a:p>
        </p:txBody>
      </p:sp>
      <p:sp>
        <p:nvSpPr>
          <p:cNvPr id="129" name="Shape 127"/>
          <p:cNvSpPr/>
          <p:nvPr/>
        </p:nvSpPr>
        <p:spPr>
          <a:xfrm>
            <a:off x="4498848" y="390448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5230368" y="33101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1" name="Shape 129"/>
          <p:cNvSpPr/>
          <p:nvPr/>
        </p:nvSpPr>
        <p:spPr>
          <a:xfrm>
            <a:off x="5961888" y="390448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2" name="Shape 130"/>
          <p:cNvSpPr/>
          <p:nvPr/>
        </p:nvSpPr>
        <p:spPr>
          <a:xfrm>
            <a:off x="6510528" y="3264408"/>
            <a:ext cx="146304" cy="146304"/>
          </a:xfrm>
          <a:prstGeom prst="ellipse">
            <a:avLst/>
          </a:prstGeom>
          <a:solidFill>
            <a:srgbClr val="233E68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6556248" y="3310128"/>
            <a:ext cx="54864" cy="5486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*</a:t>
            </a:r>
            <a:endParaRPr lang="en-US" sz="700" dirty="0"/>
          </a:p>
        </p:txBody>
      </p:sp>
      <p:sp>
        <p:nvSpPr>
          <p:cNvPr id="134" name="Shape 132"/>
          <p:cNvSpPr/>
          <p:nvPr/>
        </p:nvSpPr>
        <p:spPr>
          <a:xfrm>
            <a:off x="7333488" y="408736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5" name="Shape 133"/>
          <p:cNvSpPr/>
          <p:nvPr/>
        </p:nvSpPr>
        <p:spPr>
          <a:xfrm>
            <a:off x="7973568" y="335584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6" name="Shape 134"/>
          <p:cNvSpPr/>
          <p:nvPr/>
        </p:nvSpPr>
        <p:spPr>
          <a:xfrm>
            <a:off x="8613648" y="399592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7" name="Shape 135"/>
          <p:cNvSpPr/>
          <p:nvPr/>
        </p:nvSpPr>
        <p:spPr>
          <a:xfrm>
            <a:off x="9253728" y="3172968"/>
            <a:ext cx="146304" cy="146304"/>
          </a:xfrm>
          <a:prstGeom prst="ellipse">
            <a:avLst/>
          </a:prstGeom>
          <a:solidFill>
            <a:srgbClr val="BDE0F2"/>
          </a:solidFill>
          <a:ln w="10160">
            <a:solidFill>
              <a:srgbClr val="233E68"/>
            </a:solidFill>
            <a:prstDash val="solid"/>
          </a:ln>
        </p:spPr>
      </p:sp>
      <p:sp>
        <p:nvSpPr>
          <p:cNvPr id="138" name="Text 136"/>
          <p:cNvSpPr/>
          <p:nvPr/>
        </p:nvSpPr>
        <p:spPr>
          <a:xfrm>
            <a:off x="2148840" y="5010912"/>
            <a:ext cx="96012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Regular contact</a:t>
            </a:r>
            <a:endParaRPr lang="en-US" sz="680" dirty="0"/>
          </a:p>
        </p:txBody>
      </p:sp>
      <p:sp>
        <p:nvSpPr>
          <p:cNvPr id="139" name="Text 137"/>
          <p:cNvSpPr/>
          <p:nvPr/>
        </p:nvSpPr>
        <p:spPr>
          <a:xfrm>
            <a:off x="3749040" y="5010912"/>
            <a:ext cx="1463040" cy="10972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680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High-leverage bridge node</a:t>
            </a:r>
            <a:endParaRPr lang="en-US" sz="680" dirty="0"/>
          </a:p>
        </p:txBody>
      </p:sp>
      <p:sp>
        <p:nvSpPr>
          <p:cNvPr id="140" name="Shape 138"/>
          <p:cNvSpPr/>
          <p:nvPr/>
        </p:nvSpPr>
        <p:spPr>
          <a:xfrm>
            <a:off x="2788920" y="5330952"/>
            <a:ext cx="6766560" cy="320040"/>
          </a:xfrm>
          <a:prstGeom prst="roundRect">
            <a:avLst>
              <a:gd name="adj" fmla="val 22857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3063240" y="5449824"/>
            <a:ext cx="6217920" cy="822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8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Example insight: Connecting with Mentor Y unlocks 12 investors within 2 hops</a:t>
            </a:r>
            <a:endParaRPr lang="en-US" sz="780" dirty="0"/>
          </a:p>
        </p:txBody>
      </p:sp>
      <p:sp>
        <p:nvSpPr>
          <p:cNvPr id="142" name="Shape 140"/>
          <p:cNvSpPr/>
          <p:nvPr/>
        </p:nvSpPr>
        <p:spPr>
          <a:xfrm>
            <a:off x="914400" y="5833872"/>
            <a:ext cx="9966960" cy="329184"/>
          </a:xfrm>
          <a:prstGeom prst="roundRect">
            <a:avLst>
              <a:gd name="adj" fmla="val 22222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143000" y="5943600"/>
            <a:ext cx="941832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Data model: nodes = founders, investors, mentors, events, accelerators. Edges = meetings, intros, co-attendance, sector relation, past funding.</a:t>
            </a:r>
            <a:endParaRPr lang="en-US" sz="760" dirty="0"/>
          </a:p>
        </p:txBody>
      </p:sp>
      <p:sp>
        <p:nvSpPr>
          <p:cNvPr id="144" name="Text 14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8</a:t>
            </a:r>
            <a:endParaRPr lang="en-US" sz="8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P2-4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P2-4 Relationship Health &amp; Auto-DB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Relationship timing, decay risk, personalized follow-up and automatic ecosystem database refresh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777240" y="1627632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777240" y="162763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7FD1E4"/>
          </a:solidFill>
          <a:ln w="13335">
            <a:solidFill>
              <a:srgbClr val="7FD1E4"/>
            </a:solidFill>
            <a:prstDash val="solid"/>
          </a:ln>
        </p:spPr>
      </p:sp>
      <p:sp>
        <p:nvSpPr>
          <p:cNvPr id="102" name="Text 100"/>
          <p:cNvSpPr/>
          <p:nvPr/>
        </p:nvSpPr>
        <p:spPr>
          <a:xfrm>
            <a:off x="2148840" y="1856232"/>
            <a:ext cx="246888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P2-4 — Relationship Health &amp; Timing</a:t>
            </a:r>
            <a:endParaRPr lang="en-US" sz="1200" dirty="0"/>
          </a:p>
        </p:txBody>
      </p:sp>
      <p:sp>
        <p:nvSpPr>
          <p:cNvPr id="103" name="Text 101"/>
          <p:cNvSpPr/>
          <p:nvPr/>
        </p:nvSpPr>
        <p:spPr>
          <a:xfrm>
            <a:off x="2011680" y="2468880"/>
            <a:ext cx="23774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9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Predict relationship strength + optimal follow-up timing</a:t>
            </a:r>
            <a:endParaRPr lang="en-US" sz="790" dirty="0"/>
          </a:p>
        </p:txBody>
      </p:sp>
      <p:sp>
        <p:nvSpPr>
          <p:cNvPr id="104" name="Text 102"/>
          <p:cNvSpPr/>
          <p:nvPr/>
        </p:nvSpPr>
        <p:spPr>
          <a:xfrm>
            <a:off x="1234440" y="2862072"/>
            <a:ext cx="3566160" cy="74980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Interaction frequency analysis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Response delay measurement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Engagement trend detection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Decay probability with exponential model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Optimal contact window prediction</a:t>
            </a:r>
            <a:endParaRPr lang="en-US" sz="835" dirty="0"/>
          </a:p>
          <a:p>
            <a:pPr algn="l" indent="0" marL="0">
              <a:buNone/>
            </a:pPr>
            <a:r>
              <a:rPr lang="en-US" sz="8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Personalized message generation</a:t>
            </a:r>
            <a:endParaRPr lang="en-US" sz="835" dirty="0"/>
          </a:p>
        </p:txBody>
      </p:sp>
      <p:sp>
        <p:nvSpPr>
          <p:cNvPr id="105" name="Text 103"/>
          <p:cNvSpPr/>
          <p:nvPr/>
        </p:nvSpPr>
        <p:spPr>
          <a:xfrm>
            <a:off x="1234440" y="4251960"/>
            <a:ext cx="34747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30" b="1" dirty="0">
                <a:solidFill>
                  <a:srgbClr val="233E68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Output: high decay risk in 10 days -&gt; contact this week</a:t>
            </a:r>
            <a:endParaRPr lang="en-US" sz="830" dirty="0"/>
          </a:p>
        </p:txBody>
      </p:sp>
      <p:sp>
        <p:nvSpPr>
          <p:cNvPr id="106" name="Shape 104"/>
          <p:cNvSpPr/>
          <p:nvPr/>
        </p:nvSpPr>
        <p:spPr>
          <a:xfrm>
            <a:off x="6172200" y="1627632"/>
            <a:ext cx="5074920" cy="3154680"/>
          </a:xfrm>
          <a:prstGeom prst="roundRect">
            <a:avLst>
              <a:gd name="adj" fmla="val 2319"/>
            </a:avLst>
          </a:prstGeom>
          <a:solidFill>
            <a:srgbClr val="FFFFFF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7" name="Shape 105"/>
          <p:cNvSpPr/>
          <p:nvPr/>
        </p:nvSpPr>
        <p:spPr>
          <a:xfrm>
            <a:off x="6172200" y="1627632"/>
            <a:ext cx="5074920" cy="566928"/>
          </a:xfrm>
          <a:prstGeom prst="roundRect">
            <a:avLst>
              <a:gd name="adj" fmla="val 12903"/>
            </a:avLst>
          </a:prstGeom>
          <a:solidFill>
            <a:srgbClr val="F1C8BA"/>
          </a:solidFill>
          <a:ln w="13335">
            <a:solidFill>
              <a:srgbClr val="F1C8BA"/>
            </a:solidFill>
            <a:prstDash val="solid"/>
          </a:ln>
        </p:spPr>
      </p:sp>
      <p:sp>
        <p:nvSpPr>
          <p:cNvPr id="108" name="Text 106"/>
          <p:cNvSpPr/>
          <p:nvPr/>
        </p:nvSpPr>
        <p:spPr>
          <a:xfrm>
            <a:off x="7635240" y="1856232"/>
            <a:ext cx="21945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233E68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Search Agent + Auto DB Update</a:t>
            </a:r>
            <a:endParaRPr lang="en-US" sz="1200" dirty="0"/>
          </a:p>
        </p:txBody>
      </p:sp>
      <p:sp>
        <p:nvSpPr>
          <p:cNvPr id="109" name="Text 107"/>
          <p:cNvSpPr/>
          <p:nvPr/>
        </p:nvSpPr>
        <p:spPr>
          <a:xfrm>
            <a:off x="7360920" y="2468880"/>
            <a:ext cx="25603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90" i="1" dirty="0">
                <a:solidFill>
                  <a:srgbClr val="4B5563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Web crawling -&gt; entity resolution -&gt; CRUD database</a:t>
            </a:r>
            <a:endParaRPr lang="en-US" sz="790" dirty="0"/>
          </a:p>
        </p:txBody>
      </p:sp>
      <p:sp>
        <p:nvSpPr>
          <p:cNvPr id="110" name="Shape 108"/>
          <p:cNvSpPr/>
          <p:nvPr/>
        </p:nvSpPr>
        <p:spPr>
          <a:xfrm>
            <a:off x="6812280" y="2834640"/>
            <a:ext cx="3657600" cy="310896"/>
          </a:xfrm>
          <a:prstGeom prst="roundRect">
            <a:avLst>
              <a:gd name="adj" fmla="val 23529"/>
            </a:avLst>
          </a:prstGeom>
          <a:solidFill>
            <a:srgbClr val="BDE0F2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6867144" y="2884932"/>
            <a:ext cx="3547872" cy="23774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Trigger</a:t>
            </a:r>
            <a:endParaRPr lang="en-US" sz="740" dirty="0"/>
          </a:p>
          <a:p>
            <a:pPr algn="ctr" indent="0" marL="0">
              <a:buNone/>
            </a:pPr>
            <a:r>
              <a:rPr lang="en-US" sz="74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scheduled / on-demand</a:t>
            </a:r>
            <a:endParaRPr lang="en-US" sz="740" dirty="0"/>
          </a:p>
        </p:txBody>
      </p:sp>
      <p:sp>
        <p:nvSpPr>
          <p:cNvPr id="112" name="Shape 110"/>
          <p:cNvSpPr/>
          <p:nvPr/>
        </p:nvSpPr>
        <p:spPr>
          <a:xfrm>
            <a:off x="8458200" y="3182112"/>
            <a:ext cx="292608" cy="292608"/>
          </a:xfrm>
          <a:prstGeom prst="downArrow">
            <a:avLst/>
          </a:prstGeom>
          <a:solidFill>
            <a:srgbClr val="9CC6E7"/>
          </a:solidFill>
          <a:ln w="12700">
            <a:solidFill>
              <a:srgbClr val="9CC6E7">
                <a:alpha val="0"/>
              </a:srgbClr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6629400" y="356616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CDEBC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4" name="Text 112"/>
          <p:cNvSpPr/>
          <p:nvPr/>
        </p:nvSpPr>
        <p:spPr>
          <a:xfrm>
            <a:off x="6684264" y="3616452"/>
            <a:ext cx="1033272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Google</a:t>
            </a:r>
            <a:endParaRPr lang="en-US" sz="700" dirty="0"/>
          </a:p>
        </p:txBody>
      </p:sp>
      <p:sp>
        <p:nvSpPr>
          <p:cNvPr id="115" name="Shape 113"/>
          <p:cNvSpPr/>
          <p:nvPr/>
        </p:nvSpPr>
        <p:spPr>
          <a:xfrm>
            <a:off x="8183880" y="356616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7FD1E4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6" name="Text 114"/>
          <p:cNvSpPr/>
          <p:nvPr/>
        </p:nvSpPr>
        <p:spPr>
          <a:xfrm>
            <a:off x="8238744" y="3616452"/>
            <a:ext cx="1033272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LinkedIn</a:t>
            </a:r>
            <a:endParaRPr lang="en-US" sz="700" dirty="0"/>
          </a:p>
        </p:txBody>
      </p:sp>
      <p:sp>
        <p:nvSpPr>
          <p:cNvPr id="117" name="Shape 115"/>
          <p:cNvSpPr/>
          <p:nvPr/>
        </p:nvSpPr>
        <p:spPr>
          <a:xfrm>
            <a:off x="9738360" y="3566160"/>
            <a:ext cx="1143000" cy="320040"/>
          </a:xfrm>
          <a:prstGeom prst="roundRect">
            <a:avLst>
              <a:gd name="adj" fmla="val 22857"/>
            </a:avLst>
          </a:prstGeom>
          <a:solidFill>
            <a:srgbClr val="F1C8BA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8" name="Text 116"/>
          <p:cNvSpPr/>
          <p:nvPr/>
        </p:nvSpPr>
        <p:spPr>
          <a:xfrm>
            <a:off x="9793224" y="3616452"/>
            <a:ext cx="1033272" cy="24688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Facebook</a:t>
            </a:r>
            <a:endParaRPr lang="en-US" sz="700" dirty="0"/>
          </a:p>
        </p:txBody>
      </p:sp>
      <p:sp>
        <p:nvSpPr>
          <p:cNvPr id="119" name="Shape 117"/>
          <p:cNvSpPr/>
          <p:nvPr/>
        </p:nvSpPr>
        <p:spPr>
          <a:xfrm>
            <a:off x="8458200" y="3931920"/>
            <a:ext cx="292608" cy="292608"/>
          </a:xfrm>
          <a:prstGeom prst="downArrow">
            <a:avLst/>
          </a:prstGeom>
          <a:solidFill>
            <a:srgbClr val="9CC6E7"/>
          </a:solidFill>
          <a:ln w="12700">
            <a:solidFill>
              <a:srgbClr val="9CC6E7">
                <a:alpha val="0"/>
              </a:srgbClr>
            </a:solidFill>
            <a:prstDash val="solid"/>
          </a:ln>
        </p:spPr>
      </p:sp>
      <p:sp>
        <p:nvSpPr>
          <p:cNvPr id="120" name="Shape 118"/>
          <p:cNvSpPr/>
          <p:nvPr/>
        </p:nvSpPr>
        <p:spPr>
          <a:xfrm>
            <a:off x="7635240" y="4279392"/>
            <a:ext cx="1965960" cy="384048"/>
          </a:xfrm>
          <a:prstGeom prst="roundRect">
            <a:avLst>
              <a:gd name="adj" fmla="val 19048"/>
            </a:avLst>
          </a:prstGeom>
          <a:solidFill>
            <a:srgbClr val="98C4F7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7690104" y="4329684"/>
            <a:ext cx="185623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Entity Resolver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deduplicate + normalize</a:t>
            </a:r>
            <a:endParaRPr lang="en-US" sz="700" dirty="0"/>
          </a:p>
        </p:txBody>
      </p:sp>
      <p:sp>
        <p:nvSpPr>
          <p:cNvPr id="122" name="Shape 120"/>
          <p:cNvSpPr/>
          <p:nvPr/>
        </p:nvSpPr>
        <p:spPr>
          <a:xfrm>
            <a:off x="8458200" y="4709160"/>
            <a:ext cx="292608" cy="292608"/>
          </a:xfrm>
          <a:prstGeom prst="downArrow">
            <a:avLst/>
          </a:prstGeom>
          <a:solidFill>
            <a:srgbClr val="9CC6E7"/>
          </a:solidFill>
          <a:ln w="12700">
            <a:solidFill>
              <a:srgbClr val="9CC6E7">
                <a:alpha val="0"/>
              </a:srgbClr>
            </a:solidFill>
            <a:prstDash val="solid"/>
          </a:ln>
        </p:spPr>
      </p:sp>
      <p:sp>
        <p:nvSpPr>
          <p:cNvPr id="123" name="Shape 121"/>
          <p:cNvSpPr/>
          <p:nvPr/>
        </p:nvSpPr>
        <p:spPr>
          <a:xfrm>
            <a:off x="7726680" y="5010912"/>
            <a:ext cx="1783080" cy="384048"/>
          </a:xfrm>
          <a:prstGeom prst="roundRect">
            <a:avLst>
              <a:gd name="adj" fmla="val 19048"/>
            </a:avLst>
          </a:prstGeom>
          <a:solidFill>
            <a:srgbClr val="BDE0F2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4" name="Text 122"/>
          <p:cNvSpPr/>
          <p:nvPr/>
        </p:nvSpPr>
        <p:spPr>
          <a:xfrm>
            <a:off x="7781544" y="5061204"/>
            <a:ext cx="1673352" cy="31089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ctr">
            <a:normAutofit/>
          </a:bodyPr>
          <a:lstStyle/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DB Manager</a:t>
            </a:r>
            <a:endParaRPr lang="en-US" sz="700" dirty="0"/>
          </a:p>
          <a:p>
            <a:pPr algn="ctr" indent="0" marL="0">
              <a:buNone/>
            </a:pPr>
            <a:r>
              <a:rPr lang="en-US" sz="700" b="1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CRUD + versioning</a:t>
            </a:r>
            <a:endParaRPr lang="en-US" sz="700" dirty="0"/>
          </a:p>
        </p:txBody>
      </p:sp>
      <p:sp>
        <p:nvSpPr>
          <p:cNvPr id="125" name="Shape 123"/>
          <p:cNvSpPr/>
          <p:nvPr/>
        </p:nvSpPr>
        <p:spPr>
          <a:xfrm>
            <a:off x="1005840" y="5669280"/>
            <a:ext cx="9784080" cy="365760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26" name="Text 124"/>
          <p:cNvSpPr/>
          <p:nvPr/>
        </p:nvSpPr>
        <p:spPr>
          <a:xfrm>
            <a:off x="1234440" y="5788152"/>
            <a:ext cx="932688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55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Recommended tech stack: PostgreSQL + pgvector for entities, NetworkX for graph analytics, scikit-learn/XGBoost for scoring, Selenium/BeautifulSoup for controlled crawling.</a:t>
            </a:r>
            <a:endParaRPr lang="en-US" sz="755" dirty="0"/>
          </a:p>
        </p:txBody>
      </p:sp>
      <p:sp>
        <p:nvSpPr>
          <p:cNvPr id="127" name="Text 125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9</a:t>
            </a:r>
            <a:endParaRPr lang="en-US" sz="8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EEF1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EEF1F5"/>
          </a:solidFill>
          <a:ln w="12700">
            <a:solidFill>
              <a:srgbClr val="EEF1F5">
                <a:alpha val="0"/>
              </a:srgbClr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 rot="3420000">
            <a:off x="5852160" y="-502920"/>
            <a:ext cx="7498080" cy="8046720"/>
          </a:xfrm>
          <a:prstGeom prst="rect">
            <a:avLst/>
          </a:prstGeom>
          <a:solidFill>
            <a:srgbClr val="F8F8F8"/>
          </a:solidFill>
          <a:ln w="12700">
            <a:solidFill>
              <a:srgbClr val="F8F8F8">
                <a:alpha val="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-18288" y="5532120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 rot="10800000">
            <a:off x="10899648" y="-18288"/>
            <a:ext cx="1325880" cy="1325880"/>
          </a:xfrm>
          <a:prstGeom prst="rtTriangl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37160" y="237744"/>
            <a:ext cx="1737360" cy="640080"/>
          </a:xfrm>
          <a:prstGeom prst="roundRect">
            <a:avLst>
              <a:gd name="adj" fmla="val 8571"/>
            </a:avLst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47472" y="402336"/>
            <a:ext cx="1280160" cy="16459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300" b="1" i="1" dirty="0">
                <a:solidFill>
                  <a:srgbClr val="FFFFFF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+ PHASE 2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137160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37744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338328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438912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539496" y="1097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237744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38328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38912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539496" y="12395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237744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338328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38912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39496" y="1381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137160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237744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338328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438912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39496" y="15240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137160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237744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338328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438912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539496" y="1666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237744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338328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438912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539496" y="18084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137160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237744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338328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438912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539496" y="19507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3" name="Shape 41"/>
          <p:cNvSpPr/>
          <p:nvPr/>
        </p:nvSpPr>
        <p:spPr>
          <a:xfrm>
            <a:off x="137160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4" name="Shape 42"/>
          <p:cNvSpPr/>
          <p:nvPr/>
        </p:nvSpPr>
        <p:spPr>
          <a:xfrm>
            <a:off x="237744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338328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438912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7" name="Shape 45"/>
          <p:cNvSpPr/>
          <p:nvPr/>
        </p:nvSpPr>
        <p:spPr>
          <a:xfrm>
            <a:off x="539496" y="20929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8" name="Shape 46"/>
          <p:cNvSpPr/>
          <p:nvPr/>
        </p:nvSpPr>
        <p:spPr>
          <a:xfrm>
            <a:off x="137160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37744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338328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1" name="Shape 49"/>
          <p:cNvSpPr/>
          <p:nvPr/>
        </p:nvSpPr>
        <p:spPr>
          <a:xfrm>
            <a:off x="438912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2" name="Shape 50"/>
          <p:cNvSpPr/>
          <p:nvPr/>
        </p:nvSpPr>
        <p:spPr>
          <a:xfrm>
            <a:off x="539496" y="22352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11475720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11576304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5" name="Shape 53"/>
          <p:cNvSpPr/>
          <p:nvPr/>
        </p:nvSpPr>
        <p:spPr>
          <a:xfrm>
            <a:off x="11676888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6" name="Shape 54"/>
          <p:cNvSpPr/>
          <p:nvPr/>
        </p:nvSpPr>
        <p:spPr>
          <a:xfrm>
            <a:off x="11777472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11878056" y="45262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11475720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59" name="Shape 57"/>
          <p:cNvSpPr/>
          <p:nvPr/>
        </p:nvSpPr>
        <p:spPr>
          <a:xfrm>
            <a:off x="11576304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0" name="Shape 58"/>
          <p:cNvSpPr/>
          <p:nvPr/>
        </p:nvSpPr>
        <p:spPr>
          <a:xfrm>
            <a:off x="11676888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11777472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11878056" y="46634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3" name="Shape 61"/>
          <p:cNvSpPr/>
          <p:nvPr/>
        </p:nvSpPr>
        <p:spPr>
          <a:xfrm>
            <a:off x="11475720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4" name="Shape 62"/>
          <p:cNvSpPr/>
          <p:nvPr/>
        </p:nvSpPr>
        <p:spPr>
          <a:xfrm>
            <a:off x="11576304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11676888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11777472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7" name="Shape 65"/>
          <p:cNvSpPr/>
          <p:nvPr/>
        </p:nvSpPr>
        <p:spPr>
          <a:xfrm>
            <a:off x="11878056" y="48006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8" name="Shape 66"/>
          <p:cNvSpPr/>
          <p:nvPr/>
        </p:nvSpPr>
        <p:spPr>
          <a:xfrm>
            <a:off x="11475720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11576304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11676888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1" name="Shape 69"/>
          <p:cNvSpPr/>
          <p:nvPr/>
        </p:nvSpPr>
        <p:spPr>
          <a:xfrm>
            <a:off x="11777472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2" name="Shape 70"/>
          <p:cNvSpPr/>
          <p:nvPr/>
        </p:nvSpPr>
        <p:spPr>
          <a:xfrm>
            <a:off x="11878056" y="49377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11475720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11576304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5" name="Shape 73"/>
          <p:cNvSpPr/>
          <p:nvPr/>
        </p:nvSpPr>
        <p:spPr>
          <a:xfrm>
            <a:off x="11676888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6" name="Shape 74"/>
          <p:cNvSpPr/>
          <p:nvPr/>
        </p:nvSpPr>
        <p:spPr>
          <a:xfrm>
            <a:off x="11777472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11878056" y="507492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11475720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79" name="Shape 77"/>
          <p:cNvSpPr/>
          <p:nvPr/>
        </p:nvSpPr>
        <p:spPr>
          <a:xfrm>
            <a:off x="11576304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0" name="Shape 78"/>
          <p:cNvSpPr/>
          <p:nvPr/>
        </p:nvSpPr>
        <p:spPr>
          <a:xfrm>
            <a:off x="11676888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11777472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11878056" y="521208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3" name="Shape 81"/>
          <p:cNvSpPr/>
          <p:nvPr/>
        </p:nvSpPr>
        <p:spPr>
          <a:xfrm>
            <a:off x="11475720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4" name="Shape 82"/>
          <p:cNvSpPr/>
          <p:nvPr/>
        </p:nvSpPr>
        <p:spPr>
          <a:xfrm>
            <a:off x="11576304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11676888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11777472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7" name="Shape 85"/>
          <p:cNvSpPr/>
          <p:nvPr/>
        </p:nvSpPr>
        <p:spPr>
          <a:xfrm>
            <a:off x="11878056" y="534924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8" name="Shape 86"/>
          <p:cNvSpPr/>
          <p:nvPr/>
        </p:nvSpPr>
        <p:spPr>
          <a:xfrm>
            <a:off x="11475720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11576304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11676888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1" name="Shape 89"/>
          <p:cNvSpPr/>
          <p:nvPr/>
        </p:nvSpPr>
        <p:spPr>
          <a:xfrm>
            <a:off x="11777472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2" name="Shape 90"/>
          <p:cNvSpPr/>
          <p:nvPr/>
        </p:nvSpPr>
        <p:spPr>
          <a:xfrm>
            <a:off x="11878056" y="548640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11475720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11576304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5" name="Shape 93"/>
          <p:cNvSpPr/>
          <p:nvPr/>
        </p:nvSpPr>
        <p:spPr>
          <a:xfrm>
            <a:off x="11676888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6" name="Shape 94"/>
          <p:cNvSpPr/>
          <p:nvPr/>
        </p:nvSpPr>
        <p:spPr>
          <a:xfrm>
            <a:off x="11777472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11878056" y="5623560"/>
            <a:ext cx="32004" cy="32004"/>
          </a:xfrm>
          <a:prstGeom prst="ellipse">
            <a:avLst/>
          </a:prstGeom>
          <a:solidFill>
            <a:srgbClr val="233E68"/>
          </a:solidFill>
          <a:ln w="12700">
            <a:solidFill>
              <a:srgbClr val="233E68">
                <a:alpha val="0"/>
              </a:srgbClr>
            </a:solidFill>
            <a:prstDash val="solid"/>
          </a:ln>
        </p:spPr>
      </p:sp>
      <p:sp>
        <p:nvSpPr>
          <p:cNvPr id="98" name="Text 96"/>
          <p:cNvSpPr/>
          <p:nvPr/>
        </p:nvSpPr>
        <p:spPr>
          <a:xfrm>
            <a:off x="1920240" y="685800"/>
            <a:ext cx="8321040" cy="38404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24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Evaluation &amp; Defense Positioning</a:t>
            </a:r>
            <a:endParaRPr lang="en-US" sz="2400" dirty="0"/>
          </a:p>
        </p:txBody>
      </p:sp>
      <p:sp>
        <p:nvSpPr>
          <p:cNvPr id="99" name="Text 97"/>
          <p:cNvSpPr/>
          <p:nvPr/>
        </p:nvSpPr>
        <p:spPr>
          <a:xfrm>
            <a:off x="2011680" y="1078992"/>
            <a:ext cx="8138160" cy="201168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1080" b="1" dirty="0">
                <a:solidFill>
                  <a:srgbClr val="3890BC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What is implemented, what is validated, and how to present Phase 2 without overclaiming</a:t>
            </a:r>
            <a:endParaRPr lang="en-US" sz="1080" dirty="0"/>
          </a:p>
        </p:txBody>
      </p:sp>
      <p:sp>
        <p:nvSpPr>
          <p:cNvPr id="100" name="Shape 98"/>
          <p:cNvSpPr/>
          <p:nvPr/>
        </p:nvSpPr>
        <p:spPr>
          <a:xfrm>
            <a:off x="777240" y="150876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1" name="Text 99"/>
          <p:cNvSpPr/>
          <p:nvPr/>
        </p:nvSpPr>
        <p:spPr>
          <a:xfrm>
            <a:off x="1051560" y="1764792"/>
            <a:ext cx="2423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Track B — evaluation you can defend</a:t>
            </a:r>
            <a:endParaRPr lang="en-US" sz="1200" dirty="0"/>
          </a:p>
        </p:txBody>
      </p:sp>
      <p:sp>
        <p:nvSpPr>
          <p:cNvPr id="102" name="Text 100"/>
          <p:cNvSpPr/>
          <p:nvPr/>
        </p:nvSpPr>
        <p:spPr>
          <a:xfrm>
            <a:off x="1051560" y="2103120"/>
            <a:ext cx="3429000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Run sample request and show final_output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uploaded documents and missing_documents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Startup Act score and recommended legal form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If using F1 = 1.000, say: controlled synthetic dataset only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generated JSON/PDF report paths</a:t>
            </a:r>
            <a:endParaRPr lang="en-US" sz="855" dirty="0"/>
          </a:p>
        </p:txBody>
      </p:sp>
      <p:sp>
        <p:nvSpPr>
          <p:cNvPr id="103" name="Shape 101"/>
          <p:cNvSpPr/>
          <p:nvPr/>
        </p:nvSpPr>
        <p:spPr>
          <a:xfrm>
            <a:off x="6172200" y="1508760"/>
            <a:ext cx="489204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04" name="Text 102"/>
          <p:cNvSpPr/>
          <p:nvPr/>
        </p:nvSpPr>
        <p:spPr>
          <a:xfrm>
            <a:off x="6446520" y="1764792"/>
            <a:ext cx="2423160" cy="18288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0A0F55"/>
                </a:solidFill>
                <a:latin typeface="Aptos Display" pitchFamily="34" charset="0"/>
                <a:ea typeface="Aptos Display" pitchFamily="34" charset="-122"/>
                <a:cs typeface="Aptos Display" pitchFamily="34" charset="-120"/>
              </a:rPr>
              <a:t>Phase 2 — how to defend it</a:t>
            </a:r>
            <a:endParaRPr lang="en-US" sz="1200" dirty="0"/>
          </a:p>
        </p:txBody>
      </p:sp>
      <p:sp>
        <p:nvSpPr>
          <p:cNvPr id="105" name="Text 103"/>
          <p:cNvSpPr/>
          <p:nvPr/>
        </p:nvSpPr>
        <p:spPr>
          <a:xfrm>
            <a:off x="6446520" y="2103120"/>
            <a:ext cx="3429000" cy="71323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Call it Phase 2 / proposed ecosystem intelligence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Explain data model, features and algorithms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Do not claim production DB unless implemented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Show how it reuses Track B legal readiness output</a:t>
            </a:r>
            <a:endParaRPr lang="en-US" sz="855" dirty="0"/>
          </a:p>
          <a:p>
            <a:pPr algn="l" indent="0" marL="0">
              <a:buNone/>
            </a:pPr>
            <a:r>
              <a:rPr lang="en-US" sz="85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• Present D1-P2-4 as designed modules</a:t>
            </a:r>
            <a:endParaRPr lang="en-US" sz="855" dirty="0"/>
          </a:p>
        </p:txBody>
      </p:sp>
      <p:sp>
        <p:nvSpPr>
          <p:cNvPr id="106" name="Shape 104"/>
          <p:cNvSpPr/>
          <p:nvPr/>
        </p:nvSpPr>
        <p:spPr>
          <a:xfrm>
            <a:off x="1051560" y="3749040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7" name="Text 105"/>
          <p:cNvSpPr/>
          <p:nvPr/>
        </p:nvSpPr>
        <p:spPr>
          <a:xfrm>
            <a:off x="1097280" y="3817620"/>
            <a:ext cx="265176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Claim on slide</a:t>
            </a:r>
            <a:endParaRPr lang="en-US" sz="760" dirty="0"/>
          </a:p>
        </p:txBody>
      </p:sp>
      <p:sp>
        <p:nvSpPr>
          <p:cNvPr id="108" name="Shape 106"/>
          <p:cNvSpPr/>
          <p:nvPr/>
        </p:nvSpPr>
        <p:spPr>
          <a:xfrm>
            <a:off x="3803904" y="374904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09" name="Text 107"/>
          <p:cNvSpPr/>
          <p:nvPr/>
        </p:nvSpPr>
        <p:spPr>
          <a:xfrm>
            <a:off x="3849624" y="3817620"/>
            <a:ext cx="96012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Verdict</a:t>
            </a:r>
            <a:endParaRPr lang="en-US" sz="760" dirty="0"/>
          </a:p>
        </p:txBody>
      </p:sp>
      <p:sp>
        <p:nvSpPr>
          <p:cNvPr id="110" name="Shape 108"/>
          <p:cNvSpPr/>
          <p:nvPr/>
        </p:nvSpPr>
        <p:spPr>
          <a:xfrm>
            <a:off x="4864608" y="3749040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233E68"/>
          </a:solidFill>
          <a:ln w="13335">
            <a:solidFill>
              <a:srgbClr val="233E68"/>
            </a:solidFill>
            <a:prstDash val="solid"/>
          </a:ln>
        </p:spPr>
      </p:sp>
      <p:sp>
        <p:nvSpPr>
          <p:cNvPr id="111" name="Text 109"/>
          <p:cNvSpPr/>
          <p:nvPr/>
        </p:nvSpPr>
        <p:spPr>
          <a:xfrm>
            <a:off x="4910328" y="3817620"/>
            <a:ext cx="5806440" cy="118872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6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Safer wording</a:t>
            </a:r>
            <a:endParaRPr lang="en-US" sz="760" dirty="0"/>
          </a:p>
        </p:txBody>
      </p:sp>
      <p:sp>
        <p:nvSpPr>
          <p:cNvPr id="112" name="Shape 110"/>
          <p:cNvSpPr/>
          <p:nvPr/>
        </p:nvSpPr>
        <p:spPr>
          <a:xfrm>
            <a:off x="1051560" y="4059936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3" name="Text 111"/>
          <p:cNvSpPr/>
          <p:nvPr/>
        </p:nvSpPr>
        <p:spPr>
          <a:xfrm>
            <a:off x="1097280" y="4123944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Strategic Legal Advisor</a:t>
            </a:r>
            <a:endParaRPr lang="en-US" sz="735" dirty="0"/>
          </a:p>
        </p:txBody>
      </p:sp>
      <p:sp>
        <p:nvSpPr>
          <p:cNvPr id="114" name="Shape 112"/>
          <p:cNvSpPr/>
          <p:nvPr/>
        </p:nvSpPr>
        <p:spPr>
          <a:xfrm>
            <a:off x="3803904" y="4059936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5" name="Text 113"/>
          <p:cNvSpPr/>
          <p:nvPr/>
        </p:nvSpPr>
        <p:spPr>
          <a:xfrm>
            <a:off x="3849624" y="4123944"/>
            <a:ext cx="960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35" dirty="0"/>
          </a:p>
        </p:txBody>
      </p:sp>
      <p:sp>
        <p:nvSpPr>
          <p:cNvPr id="116" name="Shape 114"/>
          <p:cNvSpPr/>
          <p:nvPr/>
        </p:nvSpPr>
        <p:spPr>
          <a:xfrm>
            <a:off x="4864608" y="4059936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7" name="Text 115"/>
          <p:cNvSpPr/>
          <p:nvPr/>
        </p:nvSpPr>
        <p:spPr>
          <a:xfrm>
            <a:off x="4910328" y="4123944"/>
            <a:ext cx="5806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A1 StrategicLegalAgent</a:t>
            </a:r>
            <a:endParaRPr lang="en-US" sz="735" dirty="0"/>
          </a:p>
        </p:txBody>
      </p:sp>
      <p:sp>
        <p:nvSpPr>
          <p:cNvPr id="118" name="Shape 116"/>
          <p:cNvSpPr/>
          <p:nvPr/>
        </p:nvSpPr>
        <p:spPr>
          <a:xfrm>
            <a:off x="1051560" y="4370832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19" name="Text 117"/>
          <p:cNvSpPr/>
          <p:nvPr/>
        </p:nvSpPr>
        <p:spPr>
          <a:xfrm>
            <a:off x="1097280" y="4434840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Intelligent Document Verifier</a:t>
            </a:r>
            <a:endParaRPr lang="en-US" sz="735" dirty="0"/>
          </a:p>
        </p:txBody>
      </p:sp>
      <p:sp>
        <p:nvSpPr>
          <p:cNvPr id="120" name="Shape 118"/>
          <p:cNvSpPr/>
          <p:nvPr/>
        </p:nvSpPr>
        <p:spPr>
          <a:xfrm>
            <a:off x="3803904" y="4370832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1" name="Text 119"/>
          <p:cNvSpPr/>
          <p:nvPr/>
        </p:nvSpPr>
        <p:spPr>
          <a:xfrm>
            <a:off x="3849624" y="4434840"/>
            <a:ext cx="960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OK</a:t>
            </a:r>
            <a:endParaRPr lang="en-US" sz="735" dirty="0"/>
          </a:p>
        </p:txBody>
      </p:sp>
      <p:sp>
        <p:nvSpPr>
          <p:cNvPr id="122" name="Shape 120"/>
          <p:cNvSpPr/>
          <p:nvPr/>
        </p:nvSpPr>
        <p:spPr>
          <a:xfrm>
            <a:off x="4864608" y="4370832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3" name="Text 121"/>
          <p:cNvSpPr/>
          <p:nvPr/>
        </p:nvSpPr>
        <p:spPr>
          <a:xfrm>
            <a:off x="4910328" y="4434840"/>
            <a:ext cx="5806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Implemented A2 IntelligentDocumentAgent</a:t>
            </a:r>
            <a:endParaRPr lang="en-US" sz="735" dirty="0"/>
          </a:p>
        </p:txBody>
      </p:sp>
      <p:sp>
        <p:nvSpPr>
          <p:cNvPr id="124" name="Shape 122"/>
          <p:cNvSpPr/>
          <p:nvPr/>
        </p:nvSpPr>
        <p:spPr>
          <a:xfrm>
            <a:off x="1051560" y="4681728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5" name="Text 123"/>
          <p:cNvSpPr/>
          <p:nvPr/>
        </p:nvSpPr>
        <p:spPr>
          <a:xfrm>
            <a:off x="1097280" y="4745736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Networking agent</a:t>
            </a:r>
            <a:endParaRPr lang="en-US" sz="735" dirty="0"/>
          </a:p>
        </p:txBody>
      </p:sp>
      <p:sp>
        <p:nvSpPr>
          <p:cNvPr id="126" name="Shape 124"/>
          <p:cNvSpPr/>
          <p:nvPr/>
        </p:nvSpPr>
        <p:spPr>
          <a:xfrm>
            <a:off x="3803904" y="4681728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7" name="Text 125"/>
          <p:cNvSpPr/>
          <p:nvPr/>
        </p:nvSpPr>
        <p:spPr>
          <a:xfrm>
            <a:off x="3849624" y="4745736"/>
            <a:ext cx="960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Partial</a:t>
            </a:r>
            <a:endParaRPr lang="en-US" sz="735" dirty="0"/>
          </a:p>
        </p:txBody>
      </p:sp>
      <p:sp>
        <p:nvSpPr>
          <p:cNvPr id="128" name="Shape 126"/>
          <p:cNvSpPr/>
          <p:nvPr/>
        </p:nvSpPr>
        <p:spPr>
          <a:xfrm>
            <a:off x="4864608" y="4681728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29" name="Text 127"/>
          <p:cNvSpPr/>
          <p:nvPr/>
        </p:nvSpPr>
        <p:spPr>
          <a:xfrm>
            <a:off x="4910328" y="4745736"/>
            <a:ext cx="5806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External research module now, Phase 2 later</a:t>
            </a:r>
            <a:endParaRPr lang="en-US" sz="735" dirty="0"/>
          </a:p>
        </p:txBody>
      </p:sp>
      <p:sp>
        <p:nvSpPr>
          <p:cNvPr id="130" name="Shape 128"/>
          <p:cNvSpPr/>
          <p:nvPr/>
        </p:nvSpPr>
        <p:spPr>
          <a:xfrm>
            <a:off x="1051560" y="4992624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1" name="Text 129"/>
          <p:cNvSpPr/>
          <p:nvPr/>
        </p:nvSpPr>
        <p:spPr>
          <a:xfrm>
            <a:off x="1097280" y="5056632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Graph/PageRank/Dijkstra</a:t>
            </a:r>
            <a:endParaRPr lang="en-US" sz="735" dirty="0"/>
          </a:p>
        </p:txBody>
      </p:sp>
      <p:sp>
        <p:nvSpPr>
          <p:cNvPr id="132" name="Shape 130"/>
          <p:cNvSpPr/>
          <p:nvPr/>
        </p:nvSpPr>
        <p:spPr>
          <a:xfrm>
            <a:off x="3803904" y="4992624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3" name="Text 131"/>
          <p:cNvSpPr/>
          <p:nvPr/>
        </p:nvSpPr>
        <p:spPr>
          <a:xfrm>
            <a:off x="3849624" y="5056632"/>
            <a:ext cx="960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735" dirty="0"/>
          </a:p>
        </p:txBody>
      </p:sp>
      <p:sp>
        <p:nvSpPr>
          <p:cNvPr id="134" name="Shape 132"/>
          <p:cNvSpPr/>
          <p:nvPr/>
        </p:nvSpPr>
        <p:spPr>
          <a:xfrm>
            <a:off x="4864608" y="4992624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F8FAFC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5" name="Text 133"/>
          <p:cNvSpPr/>
          <p:nvPr/>
        </p:nvSpPr>
        <p:spPr>
          <a:xfrm>
            <a:off x="4910328" y="5056632"/>
            <a:ext cx="5806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Proposed Phase 2 graph analytics</a:t>
            </a:r>
            <a:endParaRPr lang="en-US" sz="735" dirty="0"/>
          </a:p>
        </p:txBody>
      </p:sp>
      <p:sp>
        <p:nvSpPr>
          <p:cNvPr id="136" name="Shape 134"/>
          <p:cNvSpPr/>
          <p:nvPr/>
        </p:nvSpPr>
        <p:spPr>
          <a:xfrm>
            <a:off x="1051560" y="5303520"/>
            <a:ext cx="274320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7" name="Text 135"/>
          <p:cNvSpPr/>
          <p:nvPr/>
        </p:nvSpPr>
        <p:spPr>
          <a:xfrm>
            <a:off x="1097280" y="5367528"/>
            <a:ext cx="265176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Auto DB update</a:t>
            </a:r>
            <a:endParaRPr lang="en-US" sz="735" dirty="0"/>
          </a:p>
        </p:txBody>
      </p:sp>
      <p:sp>
        <p:nvSpPr>
          <p:cNvPr id="138" name="Shape 136"/>
          <p:cNvSpPr/>
          <p:nvPr/>
        </p:nvSpPr>
        <p:spPr>
          <a:xfrm>
            <a:off x="3803904" y="5303520"/>
            <a:ext cx="105156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39" name="Text 137"/>
          <p:cNvSpPr/>
          <p:nvPr/>
        </p:nvSpPr>
        <p:spPr>
          <a:xfrm>
            <a:off x="3849624" y="5367528"/>
            <a:ext cx="96012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Future</a:t>
            </a:r>
            <a:endParaRPr lang="en-US" sz="735" dirty="0"/>
          </a:p>
        </p:txBody>
      </p:sp>
      <p:sp>
        <p:nvSpPr>
          <p:cNvPr id="140" name="Shape 138"/>
          <p:cNvSpPr/>
          <p:nvPr/>
        </p:nvSpPr>
        <p:spPr>
          <a:xfrm>
            <a:off x="4864608" y="5303520"/>
            <a:ext cx="5897880" cy="310896"/>
          </a:xfrm>
          <a:prstGeom prst="roundRect">
            <a:avLst>
              <a:gd name="adj" fmla="val 23529"/>
            </a:avLst>
          </a:prstGeom>
          <a:solidFill>
            <a:srgbClr val="FFFFFF"/>
          </a:solidFill>
          <a:ln w="13335">
            <a:solidFill>
              <a:srgbClr val="C7D2E1"/>
            </a:solidFill>
            <a:prstDash val="solid"/>
          </a:ln>
        </p:spPr>
      </p:sp>
      <p:sp>
        <p:nvSpPr>
          <p:cNvPr id="141" name="Text 139"/>
          <p:cNvSpPr/>
          <p:nvPr/>
        </p:nvSpPr>
        <p:spPr>
          <a:xfrm>
            <a:off x="4910328" y="5367528"/>
            <a:ext cx="5806440" cy="128016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l" indent="0" marL="0">
              <a:buNone/>
            </a:pPr>
            <a:r>
              <a:rPr lang="en-US" sz="735" dirty="0">
                <a:solidFill>
                  <a:srgbClr val="111827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Planned CRUD + entity resolution pipeline</a:t>
            </a:r>
            <a:endParaRPr lang="en-US" sz="735" dirty="0"/>
          </a:p>
        </p:txBody>
      </p:sp>
      <p:sp>
        <p:nvSpPr>
          <p:cNvPr id="142" name="Shape 140"/>
          <p:cNvSpPr/>
          <p:nvPr/>
        </p:nvSpPr>
        <p:spPr>
          <a:xfrm>
            <a:off x="1508760" y="5650992"/>
            <a:ext cx="8823960" cy="411480"/>
          </a:xfrm>
          <a:prstGeom prst="roundRect">
            <a:avLst>
              <a:gd name="adj" fmla="val 17778"/>
            </a:avLst>
          </a:prstGeom>
          <a:solidFill>
            <a:srgbClr val="D9EEF7"/>
          </a:solidFill>
          <a:ln w="13335">
            <a:solidFill>
              <a:srgbClr val="3890BC"/>
            </a:solidFill>
            <a:prstDash val="solid"/>
          </a:ln>
        </p:spPr>
      </p:sp>
      <p:sp>
        <p:nvSpPr>
          <p:cNvPr id="143" name="Text 141"/>
          <p:cNvSpPr/>
          <p:nvPr/>
        </p:nvSpPr>
        <p:spPr>
          <a:xfrm>
            <a:off x="1783080" y="5788152"/>
            <a:ext cx="8275320" cy="91440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0A0F55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Best final sentence: Track B is the delivered legal intelligence core; Phase 2 is the next ecosystem intelligence layer that turns legal readiness into strategic growth opportunities.</a:t>
            </a:r>
            <a:endParaRPr lang="en-US" sz="820" dirty="0"/>
          </a:p>
        </p:txBody>
      </p:sp>
      <p:sp>
        <p:nvSpPr>
          <p:cNvPr id="144" name="Text 142"/>
          <p:cNvSpPr/>
          <p:nvPr/>
        </p:nvSpPr>
        <p:spPr>
          <a:xfrm>
            <a:off x="11356848" y="6108192"/>
            <a:ext cx="274320" cy="146304"/>
          </a:xfrm>
          <a:prstGeom prst="rect">
            <a:avLst/>
          </a:prstGeom>
          <a:noFill/>
          <a:ln/>
        </p:spPr>
        <p:txBody>
          <a:bodyPr wrap="square" lIns="445" tIns="445" rIns="445" bIns="445" rtlCol="0" anchor="t">
            <a:normAutofit/>
          </a:bodyPr>
          <a:lstStyle/>
          <a:p>
            <a:pPr algn="ctr" indent="0" marL="0">
              <a:buNone/>
            </a:pPr>
            <a:r>
              <a:rPr lang="en-US" sz="850" dirty="0">
                <a:solidFill>
                  <a:srgbClr val="000000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10</a:t>
            </a:r>
            <a:endParaRPr lang="en-US" sz="8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Track B + Phase 2 - Technical Presentation</dc:title>
  <dc:subject>Track B and Phase 2 technical redesign</dc:subject>
  <dc:creator>Codex</dc:creator>
  <cp:lastModifiedBy>Codex</cp:lastModifiedBy>
  <cp:revision>1</cp:revision>
  <dcterms:created xsi:type="dcterms:W3CDTF">2026-05-03T20:11:03Z</dcterms:created>
  <dcterms:modified xsi:type="dcterms:W3CDTF">2026-05-03T20:11:03Z</dcterms:modified>
</cp:coreProperties>
</file>