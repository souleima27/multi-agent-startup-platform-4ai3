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— Legal &amp; Ecosystem Agents Deep Technical View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implemented legal intelligence | A3 = Ecosystem Intelligence Agent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8288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15568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— Legal Intelligence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115568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 legal advisor implemented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Intelligent document agent implemented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Knowledge base grounded on Tunisian legal data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A3 Ecosystem Intelligence Agent</a:t>
            </a:r>
            <a:endParaRPr lang="en-US" sz="880" dirty="0"/>
          </a:p>
        </p:txBody>
      </p:sp>
      <p:sp>
        <p:nvSpPr>
          <p:cNvPr id="103" name="Text 101"/>
          <p:cNvSpPr/>
          <p:nvPr/>
        </p:nvSpPr>
        <p:spPr>
          <a:xfrm>
            <a:off x="1115568" y="3456432"/>
            <a:ext cx="201168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implemented in code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4224528" y="2487168"/>
            <a:ext cx="1097280" cy="53035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486400" y="18288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779008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Intelligence — Ecosystem Intelligence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5779008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Predictive investor/mentor matching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 event ranking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Ecosystem graph reasoning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Relationship health + auto DB update</a:t>
            </a:r>
            <a:endParaRPr lang="en-US" sz="880" dirty="0"/>
          </a:p>
        </p:txBody>
      </p:sp>
      <p:sp>
        <p:nvSpPr>
          <p:cNvPr id="108" name="Text 106"/>
          <p:cNvSpPr/>
          <p:nvPr/>
        </p:nvSpPr>
        <p:spPr>
          <a:xfrm>
            <a:off x="5779008" y="3456432"/>
            <a:ext cx="237744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proposed extension / prototype design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9006840" y="182880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253728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Defense rule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9253728" y="2514600"/>
            <a:ext cx="1508760" cy="6583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 Ecosystem Intelligence as fully delivered unless you show its code. Present it as Ecosystem Intelligence, with clear data model and algorithms.</a:t>
            </a:r>
            <a:endParaRPr lang="en-US" sz="860" dirty="0"/>
          </a:p>
        </p:txBody>
      </p:sp>
      <p:sp>
        <p:nvSpPr>
          <p:cNvPr id="112" name="Shape 110"/>
          <p:cNvSpPr/>
          <p:nvPr/>
        </p:nvSpPr>
        <p:spPr>
          <a:xfrm>
            <a:off x="1325880" y="4709160"/>
            <a:ext cx="9098280" cy="566928"/>
          </a:xfrm>
          <a:prstGeom prst="roundRect">
            <a:avLst>
              <a:gd name="adj" fmla="val 12903"/>
            </a:avLst>
          </a:prstGeom>
          <a:solidFill>
            <a:srgbClr val="D9EEF7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00200" y="4901184"/>
            <a:ext cx="854964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Narrative: Track B makes the startup legally ready. Ecosystem Intelligence uses that clean legal profile to connect the founder to the right investors, mentors and events.</a:t>
            </a:r>
            <a:endParaRPr lang="en-US" sz="970" dirty="0"/>
          </a:p>
        </p:txBody>
      </p:sp>
      <p:sp>
        <p:nvSpPr>
          <p:cNvPr id="114" name="Text 11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— Implemented Scope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structuring, document intelligence, Startup Label readiness and ecosystem evidence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914400" y="1828800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234440" y="2057400"/>
            <a:ext cx="20116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Strategic Legal Agent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234440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Recommends legal form, Startup Act score, required documents, administrative checklist.</a:t>
            </a: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4617720" y="1828800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233E6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92040" y="2057400"/>
            <a:ext cx="2194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Intelligent Document Agent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892040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Parses files, detects type, validates signatures/stamps, scores completeness and risk.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8321040" y="1828800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3890B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613648" y="2057400"/>
            <a:ext cx="20116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 Ecosystem Intelligence Agent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8613648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Google, LinkedIn, Facebook and events search for credibility and networking evidence.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914400" y="3429000"/>
            <a:ext cx="1234440" cy="429768"/>
          </a:xfrm>
          <a:prstGeom prst="roundRect">
            <a:avLst>
              <a:gd name="adj" fmla="val 1702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0120" y="3497580"/>
            <a:ext cx="11430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760" dirty="0"/>
          </a:p>
        </p:txBody>
      </p:sp>
      <p:sp>
        <p:nvSpPr>
          <p:cNvPr id="111" name="Shape 109"/>
          <p:cNvSpPr/>
          <p:nvPr/>
        </p:nvSpPr>
        <p:spPr>
          <a:xfrm>
            <a:off x="2157984" y="3429000"/>
            <a:ext cx="2560320" cy="429768"/>
          </a:xfrm>
          <a:prstGeom prst="roundRect">
            <a:avLst>
              <a:gd name="adj" fmla="val 1702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03704" y="3497580"/>
            <a:ext cx="24688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760" dirty="0"/>
          </a:p>
        </p:txBody>
      </p:sp>
      <p:sp>
        <p:nvSpPr>
          <p:cNvPr id="113" name="Shape 111"/>
          <p:cNvSpPr/>
          <p:nvPr/>
        </p:nvSpPr>
        <p:spPr>
          <a:xfrm>
            <a:off x="4727448" y="3429000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73168" y="3497580"/>
            <a:ext cx="3063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760" dirty="0"/>
          </a:p>
        </p:txBody>
      </p:sp>
      <p:sp>
        <p:nvSpPr>
          <p:cNvPr id="115" name="Shape 113"/>
          <p:cNvSpPr/>
          <p:nvPr/>
        </p:nvSpPr>
        <p:spPr>
          <a:xfrm>
            <a:off x="7891272" y="3429000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36992" y="3497580"/>
            <a:ext cx="3063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760" dirty="0"/>
          </a:p>
        </p:txBody>
      </p:sp>
      <p:sp>
        <p:nvSpPr>
          <p:cNvPr id="117" name="Shape 115"/>
          <p:cNvSpPr/>
          <p:nvPr/>
        </p:nvSpPr>
        <p:spPr>
          <a:xfrm>
            <a:off x="914400" y="3858768"/>
            <a:ext cx="12344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60120" y="3922776"/>
            <a:ext cx="11430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Legal</a:t>
            </a:r>
            <a:endParaRPr lang="en-US" sz="735" dirty="0"/>
          </a:p>
        </p:txBody>
      </p:sp>
      <p:sp>
        <p:nvSpPr>
          <p:cNvPr id="119" name="Shape 117"/>
          <p:cNvSpPr/>
          <p:nvPr/>
        </p:nvSpPr>
        <p:spPr>
          <a:xfrm>
            <a:off x="2157984" y="3858768"/>
            <a:ext cx="25603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03704" y="3922776"/>
            <a:ext cx="2468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profile, founders, funding need</a:t>
            </a:r>
            <a:endParaRPr lang="en-US" sz="735" dirty="0"/>
          </a:p>
        </p:txBody>
      </p:sp>
      <p:sp>
        <p:nvSpPr>
          <p:cNvPr id="121" name="Shape 119"/>
          <p:cNvSpPr/>
          <p:nvPr/>
        </p:nvSpPr>
        <p:spPr>
          <a:xfrm>
            <a:off x="4727448" y="3858768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773168" y="3922776"/>
            <a:ext cx="3063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form rules, Startup Act scoring, admin workflow reasoning</a:t>
            </a:r>
            <a:endParaRPr lang="en-US" sz="735" dirty="0"/>
          </a:p>
        </p:txBody>
      </p:sp>
      <p:sp>
        <p:nvSpPr>
          <p:cNvPr id="123" name="Shape 121"/>
          <p:cNvSpPr/>
          <p:nvPr/>
        </p:nvSpPr>
        <p:spPr>
          <a:xfrm>
            <a:off x="7891272" y="3858768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936992" y="3922776"/>
            <a:ext cx="3063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SARL/SUARL/SA recommendation, score, checklist</a:t>
            </a:r>
            <a:endParaRPr lang="en-US" sz="735" dirty="0"/>
          </a:p>
        </p:txBody>
      </p:sp>
      <p:sp>
        <p:nvSpPr>
          <p:cNvPr id="125" name="Shape 123"/>
          <p:cNvSpPr/>
          <p:nvPr/>
        </p:nvSpPr>
        <p:spPr>
          <a:xfrm>
            <a:off x="914400" y="4288536"/>
            <a:ext cx="1234440" cy="429768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60120" y="4352544"/>
            <a:ext cx="11430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Documents</a:t>
            </a:r>
            <a:endParaRPr lang="en-US" sz="735" dirty="0"/>
          </a:p>
        </p:txBody>
      </p:sp>
      <p:sp>
        <p:nvSpPr>
          <p:cNvPr id="127" name="Shape 125"/>
          <p:cNvSpPr/>
          <p:nvPr/>
        </p:nvSpPr>
        <p:spPr>
          <a:xfrm>
            <a:off x="2157984" y="4288536"/>
            <a:ext cx="2560320" cy="429768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203704" y="4352544"/>
            <a:ext cx="2468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legal documents</a:t>
            </a:r>
            <a:endParaRPr lang="en-US" sz="735" dirty="0"/>
          </a:p>
        </p:txBody>
      </p:sp>
      <p:sp>
        <p:nvSpPr>
          <p:cNvPr id="129" name="Shape 127"/>
          <p:cNvSpPr/>
          <p:nvPr/>
        </p:nvSpPr>
        <p:spPr>
          <a:xfrm>
            <a:off x="4727448" y="4288536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773168" y="4352544"/>
            <a:ext cx="3063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OCR/parser extraction, type detection, signature/stamp checks, strict validation</a:t>
            </a:r>
            <a:endParaRPr lang="en-US" sz="735" dirty="0"/>
          </a:p>
        </p:txBody>
      </p:sp>
      <p:sp>
        <p:nvSpPr>
          <p:cNvPr id="131" name="Shape 129"/>
          <p:cNvSpPr/>
          <p:nvPr/>
        </p:nvSpPr>
        <p:spPr>
          <a:xfrm>
            <a:off x="7891272" y="4288536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936992" y="4352544"/>
            <a:ext cx="3063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 score, missing docs, risk level, remediation</a:t>
            </a:r>
            <a:endParaRPr lang="en-US" sz="735" dirty="0"/>
          </a:p>
        </p:txBody>
      </p:sp>
      <p:sp>
        <p:nvSpPr>
          <p:cNvPr id="133" name="Shape 131"/>
          <p:cNvSpPr/>
          <p:nvPr/>
        </p:nvSpPr>
        <p:spPr>
          <a:xfrm>
            <a:off x="914400" y="4718304"/>
            <a:ext cx="12344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0120" y="4782312"/>
            <a:ext cx="11430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Ecosystem</a:t>
            </a:r>
            <a:endParaRPr lang="en-US" sz="735" dirty="0"/>
          </a:p>
        </p:txBody>
      </p:sp>
      <p:sp>
        <p:nvSpPr>
          <p:cNvPr id="135" name="Shape 133"/>
          <p:cNvSpPr/>
          <p:nvPr/>
        </p:nvSpPr>
        <p:spPr>
          <a:xfrm>
            <a:off x="2157984" y="4718304"/>
            <a:ext cx="25603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203704" y="4782312"/>
            <a:ext cx="24688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name, sector, networking goal</a:t>
            </a:r>
            <a:endParaRPr lang="en-US" sz="735" dirty="0"/>
          </a:p>
        </p:txBody>
      </p:sp>
      <p:sp>
        <p:nvSpPr>
          <p:cNvPr id="137" name="Shape 135"/>
          <p:cNvSpPr/>
          <p:nvPr/>
        </p:nvSpPr>
        <p:spPr>
          <a:xfrm>
            <a:off x="4727448" y="4718304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773168" y="4782312"/>
            <a:ext cx="3063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search, identity filtering, credibility and opportunity ranking</a:t>
            </a:r>
            <a:endParaRPr lang="en-US" sz="735" dirty="0"/>
          </a:p>
        </p:txBody>
      </p:sp>
      <p:sp>
        <p:nvSpPr>
          <p:cNvPr id="139" name="Shape 137"/>
          <p:cNvSpPr/>
          <p:nvPr/>
        </p:nvSpPr>
        <p:spPr>
          <a:xfrm>
            <a:off x="7891272" y="4718304"/>
            <a:ext cx="31546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936992" y="4782312"/>
            <a:ext cx="3063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Google/LinkedIn/Facebook/event evidence, outreach priorities</a:t>
            </a:r>
            <a:endParaRPr lang="en-US" sz="735" dirty="0"/>
          </a:p>
        </p:txBody>
      </p:sp>
      <p:sp>
        <p:nvSpPr>
          <p:cNvPr id="141" name="Shape 139"/>
          <p:cNvSpPr/>
          <p:nvPr/>
        </p:nvSpPr>
        <p:spPr>
          <a:xfrm>
            <a:off x="1051560" y="5257800"/>
            <a:ext cx="9921240" cy="438912"/>
          </a:xfrm>
          <a:prstGeom prst="roundRect">
            <a:avLst>
              <a:gd name="adj" fmla="val 16667"/>
            </a:avLst>
          </a:prstGeom>
          <a:solidFill>
            <a:srgbClr val="D9EEF7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325880" y="5404104"/>
            <a:ext cx="937260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agents work as one decision package: legal structure + document compliance + ecosystem evidence for advisor and investor readiness.</a:t>
            </a:r>
            <a:endParaRPr lang="en-US" sz="840" dirty="0"/>
          </a:p>
        </p:txBody>
      </p:sp>
      <p:sp>
        <p:nvSpPr>
          <p:cNvPr id="143" name="Text 141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B\nLLM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Runtime Layer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 integration for reasoning, JSON extraction and fallback-safe agent decisions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5544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78992" y="1810512"/>
            <a:ext cx="13716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runtime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78992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LLM endpoint: Ollama-compatible API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URL: http://127.0.0.1:11434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Default model: deepseek-r1:7b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Timeout controlled by LLM_TIMEOUT_SECONDS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Cached singleton client for reuse</a:t>
            </a:r>
            <a:endParaRPr lang="en-US" sz="855" dirty="0"/>
          </a:p>
        </p:txBody>
      </p:sp>
      <p:sp>
        <p:nvSpPr>
          <p:cNvPr id="103" name="Shape 101"/>
          <p:cNvSpPr/>
          <p:nvPr/>
        </p:nvSpPr>
        <p:spPr>
          <a:xfrm>
            <a:off x="3977640" y="2240280"/>
            <a:ext cx="777240" cy="384048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92040" y="155448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138928" y="1810512"/>
            <a:ext cx="146304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contract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5212080" y="2176272"/>
            <a:ext cx="1874520" cy="8412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{\n  model: "deepseek-r1:7b",\n  prompt: agent_prompt,\n  system: role_instructions,\n  stream: false\n}</a:t>
            </a:r>
            <a:endParaRPr lang="en-US" sz="830" dirty="0"/>
          </a:p>
        </p:txBody>
      </p:sp>
      <p:sp>
        <p:nvSpPr>
          <p:cNvPr id="107" name="Shape 105"/>
          <p:cNvSpPr/>
          <p:nvPr/>
        </p:nvSpPr>
        <p:spPr>
          <a:xfrm>
            <a:off x="7909560" y="2240280"/>
            <a:ext cx="777240" cy="384048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823960" y="15544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070848" y="1810512"/>
            <a:ext cx="16459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handling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9070848" y="2148840"/>
            <a:ext cx="1691640" cy="8229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complete(): raw reasoning text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complete_json(): extracts JSON object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regex fallback for JSON inside text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 fallback object if parsing/model fails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prevents pipeline crash</a:t>
            </a:r>
            <a:endParaRPr lang="en-US" sz="810" dirty="0"/>
          </a:p>
        </p:txBody>
      </p:sp>
      <p:sp>
        <p:nvSpPr>
          <p:cNvPr id="111" name="Shape 109"/>
          <p:cNvSpPr/>
          <p:nvPr/>
        </p:nvSpPr>
        <p:spPr>
          <a:xfrm>
            <a:off x="1005840" y="4206240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51560" y="4274820"/>
            <a:ext cx="21488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LLM helps</a:t>
            </a:r>
            <a:endParaRPr lang="en-US" sz="760" dirty="0"/>
          </a:p>
        </p:txBody>
      </p:sp>
      <p:sp>
        <p:nvSpPr>
          <p:cNvPr id="113" name="Shape 111"/>
          <p:cNvSpPr/>
          <p:nvPr/>
        </p:nvSpPr>
        <p:spPr>
          <a:xfrm>
            <a:off x="3255264" y="420624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300984" y="4274820"/>
            <a:ext cx="37490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</a:t>
            </a:r>
            <a:endParaRPr lang="en-US" sz="760" dirty="0"/>
          </a:p>
        </p:txBody>
      </p:sp>
      <p:sp>
        <p:nvSpPr>
          <p:cNvPr id="115" name="Shape 113"/>
          <p:cNvSpPr/>
          <p:nvPr/>
        </p:nvSpPr>
        <p:spPr>
          <a:xfrm>
            <a:off x="7104888" y="420624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50608" y="4274820"/>
            <a:ext cx="35661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behavior</a:t>
            </a:r>
            <a:endParaRPr lang="en-US" sz="760" dirty="0"/>
          </a:p>
        </p:txBody>
      </p:sp>
      <p:sp>
        <p:nvSpPr>
          <p:cNvPr id="117" name="Shape 115"/>
          <p:cNvSpPr/>
          <p:nvPr/>
        </p:nvSpPr>
        <p:spPr>
          <a:xfrm>
            <a:off x="1005840" y="4535424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51560" y="4599432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Strategic Legal</a:t>
            </a:r>
            <a:endParaRPr lang="en-US" sz="735" dirty="0"/>
          </a:p>
        </p:txBody>
      </p:sp>
      <p:sp>
        <p:nvSpPr>
          <p:cNvPr id="119" name="Shape 117"/>
          <p:cNvSpPr/>
          <p:nvPr/>
        </p:nvSpPr>
        <p:spPr>
          <a:xfrm>
            <a:off x="3255264" y="4535424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300984" y="4599432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rationale, Startup Label/pitch reasoning</a:t>
            </a:r>
            <a:endParaRPr lang="en-US" sz="735" dirty="0"/>
          </a:p>
        </p:txBody>
      </p:sp>
      <p:sp>
        <p:nvSpPr>
          <p:cNvPr id="121" name="Shape 119"/>
          <p:cNvSpPr/>
          <p:nvPr/>
        </p:nvSpPr>
        <p:spPr>
          <a:xfrm>
            <a:off x="7104888" y="4535424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50608" y="4599432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heuristics still return result</a:t>
            </a:r>
            <a:endParaRPr lang="en-US" sz="735" dirty="0"/>
          </a:p>
        </p:txBody>
      </p:sp>
      <p:sp>
        <p:nvSpPr>
          <p:cNvPr id="123" name="Shape 121"/>
          <p:cNvSpPr/>
          <p:nvPr/>
        </p:nvSpPr>
        <p:spPr>
          <a:xfrm>
            <a:off x="1005840" y="4864608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51560" y="4928616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Documents</a:t>
            </a:r>
            <a:endParaRPr lang="en-US" sz="735" dirty="0"/>
          </a:p>
        </p:txBody>
      </p:sp>
      <p:sp>
        <p:nvSpPr>
          <p:cNvPr id="125" name="Shape 123"/>
          <p:cNvSpPr/>
          <p:nvPr/>
        </p:nvSpPr>
        <p:spPr>
          <a:xfrm>
            <a:off x="3255264" y="4864608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300984" y="4928616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diagnostics, Q&amp;A, remediation wording</a:t>
            </a:r>
            <a:endParaRPr lang="en-US" sz="735" dirty="0"/>
          </a:p>
        </p:txBody>
      </p:sp>
      <p:sp>
        <p:nvSpPr>
          <p:cNvPr id="127" name="Shape 125"/>
          <p:cNvSpPr/>
          <p:nvPr/>
        </p:nvSpPr>
        <p:spPr>
          <a:xfrm>
            <a:off x="7104888" y="4864608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150608" y="4928616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checks still score files</a:t>
            </a:r>
            <a:endParaRPr lang="en-US" sz="735" dirty="0"/>
          </a:p>
        </p:txBody>
      </p:sp>
      <p:sp>
        <p:nvSpPr>
          <p:cNvPr id="129" name="Shape 127"/>
          <p:cNvSpPr/>
          <p:nvPr/>
        </p:nvSpPr>
        <p:spPr>
          <a:xfrm>
            <a:off x="1005840" y="5193792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51560" y="5257800"/>
            <a:ext cx="2148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Ecosystem</a:t>
            </a:r>
            <a:endParaRPr lang="en-US" sz="735" dirty="0"/>
          </a:p>
        </p:txBody>
      </p:sp>
      <p:sp>
        <p:nvSpPr>
          <p:cNvPr id="131" name="Shape 129"/>
          <p:cNvSpPr/>
          <p:nvPr/>
        </p:nvSpPr>
        <p:spPr>
          <a:xfrm>
            <a:off x="3255264" y="5193792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300984" y="5257800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ranking and summary text</a:t>
            </a:r>
            <a:endParaRPr lang="en-US" sz="735" dirty="0"/>
          </a:p>
        </p:txBody>
      </p:sp>
      <p:sp>
        <p:nvSpPr>
          <p:cNvPr id="133" name="Shape 131"/>
          <p:cNvSpPr/>
          <p:nvPr/>
        </p:nvSpPr>
        <p:spPr>
          <a:xfrm>
            <a:off x="7104888" y="5193792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150608" y="5257800"/>
            <a:ext cx="35661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results still displayed</a:t>
            </a:r>
            <a:endParaRPr lang="en-US" sz="735" dirty="0"/>
          </a:p>
        </p:txBody>
      </p:sp>
      <p:sp>
        <p:nvSpPr>
          <p:cNvPr id="135" name="Shape 133"/>
          <p:cNvSpPr/>
          <p:nvPr/>
        </p:nvSpPr>
        <p:spPr>
          <a:xfrm>
            <a:off x="1188720" y="5577840"/>
            <a:ext cx="9509760" cy="384048"/>
          </a:xfrm>
          <a:prstGeom prst="roundRect">
            <a:avLst>
              <a:gd name="adj" fmla="val 19048"/>
            </a:avLst>
          </a:prstGeom>
          <a:solidFill>
            <a:srgbClr val="D9EEF7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463040" y="5715000"/>
            <a:ext cx="896112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defense: LLM is not the only decision engine. Legal rules, document checks and fallback JSON keep the system deterministic enough for a demo.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B\nA2A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A2A Bus — Agent-to-Agent Communication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message bus used by the orchestrator to call registered agents and pass context explicitly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96596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77824" y="2016252"/>
            <a:ext cx="1627632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TrackBOrchestrator\ncontrols workflow order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743200" y="2103120"/>
            <a:ext cx="658368" cy="329184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66160" y="187452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21024" y="1924812"/>
            <a:ext cx="1581912" cy="7680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A2ABus\nregister(agent, handler)\nsend(message)</a:t>
            </a:r>
            <a:endParaRPr lang="en-US" sz="810" dirty="0"/>
          </a:p>
        </p:txBody>
      </p:sp>
      <p:sp>
        <p:nvSpPr>
          <p:cNvPr id="105" name="Shape 103"/>
          <p:cNvSpPr/>
          <p:nvPr/>
        </p:nvSpPr>
        <p:spPr>
          <a:xfrm>
            <a:off x="5440680" y="2103120"/>
            <a:ext cx="658368" cy="329184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63640" y="16002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E5B3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18504" y="1650492"/>
            <a:ext cx="1719072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StrategicLegalAgent\naction: strategic_assessment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6263640" y="26974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18504" y="2747772"/>
            <a:ext cx="1719072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IntelligentDocumentAgent\naction: document_intelligence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8275320" y="2121408"/>
            <a:ext cx="658368" cy="329184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098280" y="1920240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F1C8BA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153144" y="1970532"/>
            <a:ext cx="1810512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final_output\nPASS/WARNING/FAIL\nreports + MCP context</a:t>
            </a:r>
            <a:endParaRPr lang="en-US" sz="770" dirty="0"/>
          </a:p>
        </p:txBody>
      </p:sp>
      <p:sp>
        <p:nvSpPr>
          <p:cNvPr id="113" name="Shape 111"/>
          <p:cNvSpPr/>
          <p:nvPr/>
        </p:nvSpPr>
        <p:spPr>
          <a:xfrm>
            <a:off x="960120" y="379476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05840" y="3863340"/>
            <a:ext cx="17373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message field</a:t>
            </a:r>
            <a:endParaRPr lang="en-US" sz="760" dirty="0"/>
          </a:p>
        </p:txBody>
      </p:sp>
      <p:sp>
        <p:nvSpPr>
          <p:cNvPr id="115" name="Shape 113"/>
          <p:cNvSpPr/>
          <p:nvPr/>
        </p:nvSpPr>
        <p:spPr>
          <a:xfrm>
            <a:off x="2798064" y="3794760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843784" y="3863340"/>
            <a:ext cx="29718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60" dirty="0"/>
          </a:p>
        </p:txBody>
      </p:sp>
      <p:sp>
        <p:nvSpPr>
          <p:cNvPr id="117" name="Shape 115"/>
          <p:cNvSpPr/>
          <p:nvPr/>
        </p:nvSpPr>
        <p:spPr>
          <a:xfrm>
            <a:off x="5870448" y="3794760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16168" y="3863340"/>
            <a:ext cx="44348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760" dirty="0"/>
          </a:p>
        </p:txBody>
      </p:sp>
      <p:sp>
        <p:nvSpPr>
          <p:cNvPr id="119" name="Shape 117"/>
          <p:cNvSpPr/>
          <p:nvPr/>
        </p:nvSpPr>
        <p:spPr>
          <a:xfrm>
            <a:off x="960120" y="4105656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05840" y="4169664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sender</a:t>
            </a:r>
            <a:endParaRPr lang="en-US" sz="735" dirty="0"/>
          </a:p>
        </p:txBody>
      </p:sp>
      <p:sp>
        <p:nvSpPr>
          <p:cNvPr id="121" name="Shape 119"/>
          <p:cNvSpPr/>
          <p:nvPr/>
        </p:nvSpPr>
        <p:spPr>
          <a:xfrm>
            <a:off x="2798064" y="4105656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843784" y="4169664"/>
            <a:ext cx="2971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sending request</a:t>
            </a:r>
            <a:endParaRPr lang="en-US" sz="735" dirty="0"/>
          </a:p>
        </p:txBody>
      </p:sp>
      <p:sp>
        <p:nvSpPr>
          <p:cNvPr id="123" name="Shape 121"/>
          <p:cNvSpPr/>
          <p:nvPr/>
        </p:nvSpPr>
        <p:spPr>
          <a:xfrm>
            <a:off x="5870448" y="4105656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16168" y="4169664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735" dirty="0"/>
          </a:p>
        </p:txBody>
      </p:sp>
      <p:sp>
        <p:nvSpPr>
          <p:cNvPr id="125" name="Shape 123"/>
          <p:cNvSpPr/>
          <p:nvPr/>
        </p:nvSpPr>
        <p:spPr>
          <a:xfrm>
            <a:off x="960120" y="441655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05840" y="4480560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</a:t>
            </a:r>
            <a:endParaRPr lang="en-US" sz="735" dirty="0"/>
          </a:p>
        </p:txBody>
      </p:sp>
      <p:sp>
        <p:nvSpPr>
          <p:cNvPr id="127" name="Shape 125"/>
          <p:cNvSpPr/>
          <p:nvPr/>
        </p:nvSpPr>
        <p:spPr>
          <a:xfrm>
            <a:off x="2798064" y="4416552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843784" y="4480560"/>
            <a:ext cx="2971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agent name</a:t>
            </a:r>
            <a:endParaRPr lang="en-US" sz="735" dirty="0"/>
          </a:p>
        </p:txBody>
      </p:sp>
      <p:sp>
        <p:nvSpPr>
          <p:cNvPr id="129" name="Shape 127"/>
          <p:cNvSpPr/>
          <p:nvPr/>
        </p:nvSpPr>
        <p:spPr>
          <a:xfrm>
            <a:off x="5870448" y="4416552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916168" y="4480560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A1_StrategicLegalAgent</a:t>
            </a:r>
            <a:endParaRPr lang="en-US" sz="735" dirty="0"/>
          </a:p>
        </p:txBody>
      </p:sp>
      <p:sp>
        <p:nvSpPr>
          <p:cNvPr id="131" name="Shape 129"/>
          <p:cNvSpPr/>
          <p:nvPr/>
        </p:nvSpPr>
        <p:spPr>
          <a:xfrm>
            <a:off x="960120" y="4727448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05840" y="4791456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735" dirty="0"/>
          </a:p>
        </p:txBody>
      </p:sp>
      <p:sp>
        <p:nvSpPr>
          <p:cNvPr id="133" name="Shape 131"/>
          <p:cNvSpPr/>
          <p:nvPr/>
        </p:nvSpPr>
        <p:spPr>
          <a:xfrm>
            <a:off x="2798064" y="4727448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843784" y="4791456"/>
            <a:ext cx="2971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operation requested</a:t>
            </a:r>
            <a:endParaRPr lang="en-US" sz="735" dirty="0"/>
          </a:p>
        </p:txBody>
      </p:sp>
      <p:sp>
        <p:nvSpPr>
          <p:cNvPr id="135" name="Shape 133"/>
          <p:cNvSpPr/>
          <p:nvPr/>
        </p:nvSpPr>
        <p:spPr>
          <a:xfrm>
            <a:off x="5870448" y="4727448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916168" y="4791456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strategic_assessment</a:t>
            </a:r>
            <a:endParaRPr lang="en-US" sz="735" dirty="0"/>
          </a:p>
        </p:txBody>
      </p:sp>
      <p:sp>
        <p:nvSpPr>
          <p:cNvPr id="137" name="Shape 135"/>
          <p:cNvSpPr/>
          <p:nvPr/>
        </p:nvSpPr>
        <p:spPr>
          <a:xfrm>
            <a:off x="960120" y="503834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05840" y="5102352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</a:t>
            </a:r>
            <a:endParaRPr lang="en-US" sz="735" dirty="0"/>
          </a:p>
        </p:txBody>
      </p:sp>
      <p:sp>
        <p:nvSpPr>
          <p:cNvPr id="139" name="Shape 137"/>
          <p:cNvSpPr/>
          <p:nvPr/>
        </p:nvSpPr>
        <p:spPr>
          <a:xfrm>
            <a:off x="2798064" y="5038344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843784" y="5102352"/>
            <a:ext cx="2971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object or documents</a:t>
            </a:r>
            <a:endParaRPr lang="en-US" sz="735" dirty="0"/>
          </a:p>
        </p:txBody>
      </p:sp>
      <p:sp>
        <p:nvSpPr>
          <p:cNvPr id="141" name="Shape 139"/>
          <p:cNvSpPr/>
          <p:nvPr/>
        </p:nvSpPr>
        <p:spPr>
          <a:xfrm>
            <a:off x="5870448" y="5038344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916168" y="5102352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startup_profile / documents[]</a:t>
            </a:r>
            <a:endParaRPr lang="en-US" sz="735" dirty="0"/>
          </a:p>
        </p:txBody>
      </p:sp>
      <p:sp>
        <p:nvSpPr>
          <p:cNvPr id="143" name="Shape 141"/>
          <p:cNvSpPr/>
          <p:nvPr/>
        </p:nvSpPr>
        <p:spPr>
          <a:xfrm>
            <a:off x="960120" y="534924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05840" y="5413248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kwargs</a:t>
            </a:r>
            <a:endParaRPr lang="en-US" sz="735" dirty="0"/>
          </a:p>
        </p:txBody>
      </p:sp>
      <p:sp>
        <p:nvSpPr>
          <p:cNvPr id="145" name="Shape 143"/>
          <p:cNvSpPr/>
          <p:nvPr/>
        </p:nvSpPr>
        <p:spPr>
          <a:xfrm>
            <a:off x="2798064" y="5349240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843784" y="5413248"/>
            <a:ext cx="2971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context injected</a:t>
            </a:r>
            <a:endParaRPr lang="en-US" sz="735" dirty="0"/>
          </a:p>
        </p:txBody>
      </p:sp>
      <p:sp>
        <p:nvSpPr>
          <p:cNvPr id="147" name="Shape 145"/>
          <p:cNvSpPr/>
          <p:nvPr/>
        </p:nvSpPr>
        <p:spPr>
          <a:xfrm>
            <a:off x="5870448" y="5349240"/>
            <a:ext cx="4526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916168" y="5413248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kb, strict_mode, legal_context</a:t>
            </a:r>
            <a:endParaRPr lang="en-US" sz="735" dirty="0"/>
          </a:p>
        </p:txBody>
      </p:sp>
      <p:sp>
        <p:nvSpPr>
          <p:cNvPr id="149" name="Text 147"/>
          <p:cNvSpPr/>
          <p:nvPr/>
        </p:nvSpPr>
        <p:spPr>
          <a:xfrm>
            <a:off x="1097280" y="5650992"/>
            <a:ext cx="950976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A2A makes the pipeline modular. Agents can be replaced or extended without rewriting the whole API bridge.</a:t>
            </a:r>
            <a:endParaRPr lang="en-US" sz="890" dirty="0"/>
          </a:p>
        </p:txBody>
      </p:sp>
      <p:sp>
        <p:nvSpPr>
          <p:cNvPr id="150" name="Text 148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B\nMCP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Context &amp; Tool Layer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shared context + local JSON-RPC style tools for external integration and repeatable agent calls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685800" y="148132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601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Context Manager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960120" y="2084832"/>
            <a:ext cx="2331720" cy="1280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startup_info and sector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recommended_legal_form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founders_structure and funding_needs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startup_act_score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uploaded_documents and OCR previews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document_validation_results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missing_documents and workflow_steps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final_report</a:t>
            </a:r>
            <a:endParaRPr lang="en-US" sz="815" dirty="0"/>
          </a:p>
        </p:txBody>
      </p:sp>
      <p:sp>
        <p:nvSpPr>
          <p:cNvPr id="103" name="Shape 101"/>
          <p:cNvSpPr/>
          <p:nvPr/>
        </p:nvSpPr>
        <p:spPr>
          <a:xfrm>
            <a:off x="4434840" y="148132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70916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MCP-like local server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709160" y="2084832"/>
            <a:ext cx="2331720" cy="10515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stdio JSON line protocol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input: { tool, arguments }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output: { ok, result } or { ok:false, error }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keeps Track B callable outside UI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compatible with tool-style orchestration</a:t>
            </a:r>
            <a:endParaRPr lang="en-US" sz="815" dirty="0"/>
          </a:p>
        </p:txBody>
      </p:sp>
      <p:sp>
        <p:nvSpPr>
          <p:cNvPr id="106" name="Shape 104"/>
          <p:cNvSpPr/>
          <p:nvPr/>
        </p:nvSpPr>
        <p:spPr>
          <a:xfrm>
            <a:off x="8183880" y="1481328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458200" y="1737360"/>
            <a:ext cx="1325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Exposed tools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8458200" y="2084832"/>
            <a:ext cx="2148840" cy="10515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health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run_track_b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strategic_assessment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document_intelligence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classify_legal_structure alias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verify_documents alias</a:t>
            </a:r>
            <a:endParaRPr lang="en-US" sz="815" dirty="0"/>
          </a:p>
          <a:p>
            <a:pPr algn="l" indent="0" marL="0">
              <a:buNone/>
            </a:pPr>
            <a:r>
              <a:rPr lang="en-US" sz="81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manage_documents alias</a:t>
            </a:r>
            <a:endParaRPr lang="en-US" sz="815" dirty="0"/>
          </a:p>
        </p:txBody>
      </p:sp>
      <p:sp>
        <p:nvSpPr>
          <p:cNvPr id="109" name="Shape 107"/>
          <p:cNvSpPr/>
          <p:nvPr/>
        </p:nvSpPr>
        <p:spPr>
          <a:xfrm>
            <a:off x="960120" y="5074920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FFE5B3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14984" y="5125212"/>
            <a:ext cx="1399032" cy="4023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result\nlegal form + score</a:t>
            </a:r>
            <a:endParaRPr lang="en-US" sz="770" dirty="0"/>
          </a:p>
        </p:txBody>
      </p:sp>
      <p:sp>
        <p:nvSpPr>
          <p:cNvPr id="111" name="Shape 109"/>
          <p:cNvSpPr/>
          <p:nvPr/>
        </p:nvSpPr>
        <p:spPr>
          <a:xfrm>
            <a:off x="2606040" y="5157216"/>
            <a:ext cx="50292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46120" y="49834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D9EE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300984" y="5033772"/>
            <a:ext cx="1719072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context\nshared memory object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5230368" y="5157216"/>
            <a:ext cx="502920" cy="256032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870448" y="507492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25312" y="5125212"/>
            <a:ext cx="1490472" cy="4023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result\ndocument validation</a:t>
            </a:r>
            <a:endParaRPr lang="en-US" sz="770" dirty="0"/>
          </a:p>
        </p:txBody>
      </p:sp>
      <p:sp>
        <p:nvSpPr>
          <p:cNvPr id="117" name="Shape 115"/>
          <p:cNvSpPr/>
          <p:nvPr/>
        </p:nvSpPr>
        <p:spPr>
          <a:xfrm>
            <a:off x="7635240" y="5157216"/>
            <a:ext cx="50292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75320" y="49834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1C8BA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330184" y="5033772"/>
            <a:ext cx="1719072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report\nexportable context</a:t>
            </a:r>
            <a:endParaRPr lang="en-US" sz="780" dirty="0"/>
          </a:p>
        </p:txBody>
      </p:sp>
      <p:sp>
        <p:nvSpPr>
          <p:cNvPr id="120" name="Text 118"/>
          <p:cNvSpPr/>
          <p:nvPr/>
        </p:nvSpPr>
        <p:spPr>
          <a:xfrm>
            <a:off x="960120" y="5925312"/>
            <a:ext cx="99669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sentence: MCP is used here as a structured context and tool interface, not as decoration; it serializes the shared state needed by agents and external callers.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Base — Legal Grounding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Tunisian legal knowledge used to reduce hallucination and structure decisions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60020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1874520"/>
            <a:ext cx="21031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90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kb_master.json structure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143000" y="2176272"/>
            <a:ext cx="4251960" cy="16916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"documents": [types, required fields, icons],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"rules": [legal forms, founders, capital],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"workflows": [7-step admin checklist],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"fees": [RNE, IF, bank, notaire],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"deadlines": [days/week per step],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"authorities": [DGI, RNE, ministeres],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"relations": [doc -&gt; rule -&gt; workflow]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03" name="Shape 101"/>
          <p:cNvSpPr/>
          <p:nvPr/>
        </p:nvSpPr>
        <p:spPr>
          <a:xfrm>
            <a:off x="1051560" y="4251960"/>
            <a:ext cx="4389120" cy="530352"/>
          </a:xfrm>
          <a:prstGeom prst="roundRect">
            <a:avLst>
              <a:gd name="adj" fmla="val 13793"/>
            </a:avLst>
          </a:prstGeom>
          <a:solidFill>
            <a:srgbClr val="CDEBCF"/>
          </a:solidFill>
          <a:ln w="13335">
            <a:solidFill>
              <a:srgbClr val="8CCB9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34440" y="4453128"/>
            <a:ext cx="38862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synthetic documents + realistic templates for evaluation and demo</a:t>
            </a:r>
            <a:endParaRPr lang="en-US" sz="840" dirty="0"/>
          </a:p>
        </p:txBody>
      </p:sp>
      <p:sp>
        <p:nvSpPr>
          <p:cNvPr id="105" name="Shape 103"/>
          <p:cNvSpPr/>
          <p:nvPr/>
        </p:nvSpPr>
        <p:spPr>
          <a:xfrm>
            <a:off x="6400800" y="1600200"/>
            <a:ext cx="4434840" cy="3337560"/>
          </a:xfrm>
          <a:prstGeom prst="roundRect">
            <a:avLst>
              <a:gd name="adj" fmla="val 219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720840" y="1965960"/>
            <a:ext cx="3520440" cy="16459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Tunisian Code des Societes Commerciales and Startup Act references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knowledge curated from RNE, DGI and ministry sources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Synthetic legal documents auto-generated with realistic templates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 references between rules, workflows and document types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by agents to ground recommendations and checklists</a:t>
            </a:r>
            <a:endParaRPr lang="en-US" sz="1010" dirty="0"/>
          </a:p>
        </p:txBody>
      </p:sp>
      <p:sp>
        <p:nvSpPr>
          <p:cNvPr id="107" name="Text 105"/>
          <p:cNvSpPr/>
          <p:nvPr/>
        </p:nvSpPr>
        <p:spPr>
          <a:xfrm>
            <a:off x="960120" y="5486400"/>
            <a:ext cx="99669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defense sentence: the KB is not a vector buzzword here; it is a structured rule base that maps legal forms, required files, authorities, fees and workflow steps.</a:t>
            </a:r>
            <a:endParaRPr lang="en-US" sz="930" dirty="0"/>
          </a:p>
        </p:txBody>
      </p:sp>
      <p:sp>
        <p:nvSpPr>
          <p:cNvPr id="108" name="Text 106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Architecture — Strategic Legal Advisor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startup profile to legal form, Startup Act score and 7-step administrative plan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62763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1865376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functionalities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51560" y="2148840"/>
            <a:ext cx="205740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form recommendation: SARL / SUARL / SA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Act eligibility score: 0-100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checklist: institutions, fees, deadlines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KB-grounded reasoning and rationale</a:t>
            </a:r>
            <a:endParaRPr lang="en-US" sz="830" dirty="0"/>
          </a:p>
        </p:txBody>
      </p:sp>
      <p:sp>
        <p:nvSpPr>
          <p:cNvPr id="103" name="Shape 101"/>
          <p:cNvSpPr/>
          <p:nvPr/>
        </p:nvSpPr>
        <p:spPr>
          <a:xfrm>
            <a:off x="777240" y="3246120"/>
            <a:ext cx="1572768" cy="685800"/>
          </a:xfrm>
          <a:prstGeom prst="roundRect">
            <a:avLst>
              <a:gd name="adj" fmla="val 10667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2104" y="3296412"/>
            <a:ext cx="1463040" cy="612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profile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sector, founders, funding, investors</a:t>
            </a:r>
            <a:endParaRPr lang="en-US" sz="840" dirty="0"/>
          </a:p>
        </p:txBody>
      </p:sp>
      <p:sp>
        <p:nvSpPr>
          <p:cNvPr id="105" name="Shape 103"/>
          <p:cNvSpPr/>
          <p:nvPr/>
        </p:nvSpPr>
        <p:spPr>
          <a:xfrm>
            <a:off x="2487168" y="3401568"/>
            <a:ext cx="50292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127248" y="32461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82112" y="3296412"/>
            <a:ext cx="1536192" cy="612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StrategicLegalAgent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orchestrated by TrackBOrchestrator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4919472" y="3063240"/>
            <a:ext cx="54864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9472" y="3730752"/>
            <a:ext cx="54864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77840" y="274320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E5B3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32704" y="2793492"/>
            <a:ext cx="1216152" cy="4937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form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recommender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5577840" y="37033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32704" y="3753612"/>
            <a:ext cx="1216152" cy="4937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Act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</a:t>
            </a:r>
            <a:endParaRPr lang="en-US" sz="840" dirty="0"/>
          </a:p>
        </p:txBody>
      </p:sp>
      <p:sp>
        <p:nvSpPr>
          <p:cNvPr id="114" name="Shape 112"/>
          <p:cNvSpPr/>
          <p:nvPr/>
        </p:nvSpPr>
        <p:spPr>
          <a:xfrm>
            <a:off x="7059168" y="3246120"/>
            <a:ext cx="59436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818120" y="3127248"/>
            <a:ext cx="1810512" cy="786384"/>
          </a:xfrm>
          <a:prstGeom prst="roundRect">
            <a:avLst>
              <a:gd name="adj" fmla="val 9302"/>
            </a:avLst>
          </a:prstGeom>
          <a:solidFill>
            <a:srgbClr val="E7D8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872984" y="3177540"/>
            <a:ext cx="1700784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workflow, fees, authorities</a:t>
            </a:r>
            <a:endParaRPr lang="en-US" sz="840" dirty="0"/>
          </a:p>
        </p:txBody>
      </p:sp>
      <p:sp>
        <p:nvSpPr>
          <p:cNvPr id="117" name="Shape 115"/>
          <p:cNvSpPr/>
          <p:nvPr/>
        </p:nvSpPr>
        <p:spPr>
          <a:xfrm>
            <a:off x="9802368" y="3310128"/>
            <a:ext cx="50292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287000" y="3127248"/>
            <a:ext cx="1325880" cy="786384"/>
          </a:xfrm>
          <a:prstGeom prst="roundRect">
            <a:avLst>
              <a:gd name="adj" fmla="val 9302"/>
            </a:avLst>
          </a:prstGeom>
          <a:solidFill>
            <a:srgbClr val="F1C8BA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341864" y="3177540"/>
            <a:ext cx="1216152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recommendation</a:t>
            </a:r>
            <a:endParaRPr lang="en-US" sz="790" dirty="0"/>
          </a:p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admin checklist</a:t>
            </a:r>
            <a:endParaRPr lang="en-US" sz="790" dirty="0"/>
          </a:p>
        </p:txBody>
      </p:sp>
      <p:sp>
        <p:nvSpPr>
          <p:cNvPr id="120" name="Shape 118"/>
          <p:cNvSpPr/>
          <p:nvPr/>
        </p:nvSpPr>
        <p:spPr>
          <a:xfrm>
            <a:off x="2834640" y="516636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6FB0E8"/>
          </a:solidFill>
          <a:ln w="13335">
            <a:solidFill>
              <a:srgbClr val="6FB0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63240" y="5367528"/>
            <a:ext cx="61264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example: SARL recommended | Startup Act score 78/100 | Estimated 21 days | Required documents listed</a:t>
            </a:r>
            <a:endParaRPr lang="en-US" sz="820" dirty="0"/>
          </a:p>
        </p:txBody>
      </p:sp>
      <p:sp>
        <p:nvSpPr>
          <p:cNvPr id="122" name="Text 120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Architecture — Intelligent Document Agent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upload, OCR/parser fallback, type detection, verification, scoring and remediation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205740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sub-tasks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51560" y="2633472"/>
            <a:ext cx="1417320" cy="6583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OCR text extraction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PDF/DOCX/PPTX parsing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type detection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Signature/stamp checks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Cross-document validation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 / WARNING / FAIL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65760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1246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477316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6636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FFE5B3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2122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OCR/parser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628192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2940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68426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detection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diagnostics</a:t>
            </a:r>
            <a:endParaRPr lang="en-US" sz="780" dirty="0"/>
          </a:p>
        </p:txBody>
      </p:sp>
      <p:sp>
        <p:nvSpPr>
          <p:cNvPr id="111" name="Shape 109"/>
          <p:cNvSpPr/>
          <p:nvPr/>
        </p:nvSpPr>
        <p:spPr>
          <a:xfrm>
            <a:off x="774496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3816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E7D8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9302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/ rule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925372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4692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C7CF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0178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10058400" y="2834640"/>
            <a:ext cx="219456" cy="502920"/>
          </a:xfrm>
          <a:prstGeom prst="down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57600" y="4069080"/>
            <a:ext cx="7178040" cy="914400"/>
          </a:xfrm>
          <a:prstGeom prst="roundRect">
            <a:avLst>
              <a:gd name="adj" fmla="val 8000"/>
            </a:avLst>
          </a:prstGeom>
          <a:solidFill>
            <a:srgbClr val="6BB7EA"/>
          </a:solidFill>
          <a:ln w="13335">
            <a:solidFill>
              <a:srgbClr val="6BB7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35040" y="4297680"/>
            <a:ext cx="1280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Report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4224528" y="4645152"/>
            <a:ext cx="6035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WARNING / FAIL + completeness score + missing documents + risk score + remediation actions</a:t>
            </a:r>
            <a:endParaRPr lang="en-US" sz="820" dirty="0"/>
          </a:p>
        </p:txBody>
      </p:sp>
      <p:sp>
        <p:nvSpPr>
          <p:cNvPr id="121" name="Shape 119"/>
          <p:cNvSpPr/>
          <p:nvPr/>
        </p:nvSpPr>
        <p:spPr>
          <a:xfrm>
            <a:off x="914400" y="5166360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0120" y="5234940"/>
            <a:ext cx="22402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field</a:t>
            </a:r>
            <a:endParaRPr lang="en-US" sz="760" dirty="0"/>
          </a:p>
        </p:txBody>
      </p:sp>
      <p:sp>
        <p:nvSpPr>
          <p:cNvPr id="123" name="Shape 121"/>
          <p:cNvSpPr/>
          <p:nvPr/>
        </p:nvSpPr>
        <p:spPr>
          <a:xfrm>
            <a:off x="3255264" y="5166360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00984" y="5234940"/>
            <a:ext cx="66751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60" dirty="0"/>
          </a:p>
        </p:txBody>
      </p:sp>
      <p:sp>
        <p:nvSpPr>
          <p:cNvPr id="125" name="Shape 123"/>
          <p:cNvSpPr/>
          <p:nvPr/>
        </p:nvSpPr>
        <p:spPr>
          <a:xfrm>
            <a:off x="914400" y="5431536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60120" y="5495544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overall_completeness_score</a:t>
            </a:r>
            <a:endParaRPr lang="en-US" sz="735" dirty="0"/>
          </a:p>
        </p:txBody>
      </p:sp>
      <p:sp>
        <p:nvSpPr>
          <p:cNvPr id="127" name="Shape 125"/>
          <p:cNvSpPr/>
          <p:nvPr/>
        </p:nvSpPr>
        <p:spPr>
          <a:xfrm>
            <a:off x="3255264" y="5431536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300984" y="5495544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file readiness from 0 to 100</a:t>
            </a:r>
            <a:endParaRPr lang="en-US" sz="735" dirty="0"/>
          </a:p>
        </p:txBody>
      </p:sp>
      <p:sp>
        <p:nvSpPr>
          <p:cNvPr id="129" name="Shape 127"/>
          <p:cNvSpPr/>
          <p:nvPr/>
        </p:nvSpPr>
        <p:spPr>
          <a:xfrm>
            <a:off x="914400" y="5696712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60120" y="5760720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missing_documents</a:t>
            </a:r>
            <a:endParaRPr lang="en-US" sz="735" dirty="0"/>
          </a:p>
        </p:txBody>
      </p:sp>
      <p:sp>
        <p:nvSpPr>
          <p:cNvPr id="131" name="Shape 129"/>
          <p:cNvSpPr/>
          <p:nvPr/>
        </p:nvSpPr>
        <p:spPr>
          <a:xfrm>
            <a:off x="3255264" y="5696712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300984" y="5760720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legal files not uploaded</a:t>
            </a:r>
            <a:endParaRPr lang="en-US" sz="735" dirty="0"/>
          </a:p>
        </p:txBody>
      </p:sp>
      <p:sp>
        <p:nvSpPr>
          <p:cNvPr id="133" name="Shape 131"/>
          <p:cNvSpPr/>
          <p:nvPr/>
        </p:nvSpPr>
        <p:spPr>
          <a:xfrm>
            <a:off x="914400" y="5961888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0120" y="6025896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cross_document_validations</a:t>
            </a:r>
            <a:endParaRPr lang="en-US" sz="735" dirty="0"/>
          </a:p>
        </p:txBody>
      </p:sp>
      <p:sp>
        <p:nvSpPr>
          <p:cNvPr id="135" name="Shape 133"/>
          <p:cNvSpPr/>
          <p:nvPr/>
        </p:nvSpPr>
        <p:spPr>
          <a:xfrm>
            <a:off x="3255264" y="5961888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300984" y="6025896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checks across files</a:t>
            </a:r>
            <a:endParaRPr lang="en-US" sz="735" dirty="0"/>
          </a:p>
        </p:txBody>
      </p:sp>
      <p:sp>
        <p:nvSpPr>
          <p:cNvPr id="137" name="Shape 135"/>
          <p:cNvSpPr/>
          <p:nvPr/>
        </p:nvSpPr>
        <p:spPr>
          <a:xfrm>
            <a:off x="914400" y="6227064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60120" y="6291072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strict_fail / strict_violations</a:t>
            </a:r>
            <a:endParaRPr lang="en-US" sz="735" dirty="0"/>
          </a:p>
        </p:txBody>
      </p:sp>
      <p:sp>
        <p:nvSpPr>
          <p:cNvPr id="139" name="Shape 137"/>
          <p:cNvSpPr/>
          <p:nvPr/>
        </p:nvSpPr>
        <p:spPr>
          <a:xfrm>
            <a:off x="3255264" y="6227064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300984" y="6291072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issues in strict mode</a:t>
            </a:r>
            <a:endParaRPr lang="en-US" sz="735" dirty="0"/>
          </a:p>
        </p:txBody>
      </p:sp>
      <p:sp>
        <p:nvSpPr>
          <p:cNvPr id="141" name="Text 139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 Ecosystem Intelligence Agent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legal readiness to strategic networking, investors, mentors and events</a:t>
            </a:r>
            <a:endParaRPr lang="en-US" sz="1080" dirty="0"/>
          </a:p>
        </p:txBody>
      </p:sp>
      <p:sp>
        <p:nvSpPr>
          <p:cNvPr id="100" name="Text 98"/>
          <p:cNvSpPr/>
          <p:nvPr/>
        </p:nvSpPr>
        <p:spPr>
          <a:xfrm>
            <a:off x="2926080" y="1600200"/>
            <a:ext cx="63093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legal compliance -&gt; ecosystem growth, investors, mentors and strategic events.</a:t>
            </a:r>
            <a:endParaRPr lang="en-US" sz="930" dirty="0"/>
          </a:p>
        </p:txBody>
      </p:sp>
      <p:sp>
        <p:nvSpPr>
          <p:cNvPr id="101" name="Shape 99"/>
          <p:cNvSpPr/>
          <p:nvPr/>
        </p:nvSpPr>
        <p:spPr>
          <a:xfrm>
            <a:off x="1005840" y="23317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234440" y="25146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44168" y="26883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</a:t>
            </a:r>
            <a:endParaRPr lang="en-US" sz="880" dirty="0"/>
          </a:p>
        </p:txBody>
      </p:sp>
      <p:sp>
        <p:nvSpPr>
          <p:cNvPr id="104" name="Text 102"/>
          <p:cNvSpPr/>
          <p:nvPr/>
        </p:nvSpPr>
        <p:spPr>
          <a:xfrm>
            <a:off x="2240280" y="25877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Matching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2240280" y="28986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Mentor/investor matching with fit probability and explainable scoring.</a:t>
            </a:r>
            <a:endParaRPr lang="en-US" sz="790" dirty="0"/>
          </a:p>
        </p:txBody>
      </p:sp>
      <p:sp>
        <p:nvSpPr>
          <p:cNvPr id="106" name="Shape 104"/>
          <p:cNvSpPr/>
          <p:nvPr/>
        </p:nvSpPr>
        <p:spPr>
          <a:xfrm>
            <a:off x="6400800" y="23317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6FC4ED"/>
          </a:solidFill>
          <a:ln w="13335">
            <a:solidFill>
              <a:srgbClr val="6FC4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629400" y="25146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739128" y="26883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</a:t>
            </a:r>
            <a:endParaRPr lang="en-US" sz="880" dirty="0"/>
          </a:p>
        </p:txBody>
      </p:sp>
      <p:sp>
        <p:nvSpPr>
          <p:cNvPr id="109" name="Text 107"/>
          <p:cNvSpPr/>
          <p:nvPr/>
        </p:nvSpPr>
        <p:spPr>
          <a:xfrm>
            <a:off x="7635240" y="25877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Event Intelligence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7635240" y="28986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ranking by ROI, startup stage, sector and target presence.</a:t>
            </a:r>
            <a:endParaRPr lang="en-US" sz="790" dirty="0"/>
          </a:p>
        </p:txBody>
      </p:sp>
      <p:sp>
        <p:nvSpPr>
          <p:cNvPr id="111" name="Shape 109"/>
          <p:cNvSpPr/>
          <p:nvPr/>
        </p:nvSpPr>
        <p:spPr>
          <a:xfrm>
            <a:off x="1005840" y="39319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CDEBCF"/>
          </a:solidFill>
          <a:ln w="13335">
            <a:solidFill>
              <a:srgbClr val="CDEBC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4440" y="41148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44168" y="42885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880" dirty="0"/>
          </a:p>
        </p:txBody>
      </p:sp>
      <p:sp>
        <p:nvSpPr>
          <p:cNvPr id="114" name="Text 112"/>
          <p:cNvSpPr/>
          <p:nvPr/>
        </p:nvSpPr>
        <p:spPr>
          <a:xfrm>
            <a:off x="224028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Graph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2240280" y="44988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position analysis: centrality, bridges, shortest path, warm intros.</a:t>
            </a:r>
            <a:endParaRPr lang="en-US" sz="790" dirty="0"/>
          </a:p>
        </p:txBody>
      </p:sp>
      <p:sp>
        <p:nvSpPr>
          <p:cNvPr id="116" name="Shape 114"/>
          <p:cNvSpPr/>
          <p:nvPr/>
        </p:nvSpPr>
        <p:spPr>
          <a:xfrm>
            <a:off x="6400800" y="39319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E9C4EA"/>
          </a:solidFill>
          <a:ln w="13335">
            <a:solidFill>
              <a:srgbClr val="E9C4E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629400" y="41148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739128" y="42885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880" dirty="0"/>
          </a:p>
        </p:txBody>
      </p:sp>
      <p:sp>
        <p:nvSpPr>
          <p:cNvPr id="119" name="Text 117"/>
          <p:cNvSpPr/>
          <p:nvPr/>
        </p:nvSpPr>
        <p:spPr>
          <a:xfrm>
            <a:off x="763524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 Health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7635240" y="44988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timing, decay risk, engagement quality and CRM auto-update.</a:t>
            </a:r>
            <a:endParaRPr lang="en-US" sz="790" dirty="0"/>
          </a:p>
        </p:txBody>
      </p:sp>
      <p:sp>
        <p:nvSpPr>
          <p:cNvPr id="121" name="Shape 119"/>
          <p:cNvSpPr/>
          <p:nvPr/>
        </p:nvSpPr>
        <p:spPr>
          <a:xfrm>
            <a:off x="1920240" y="555955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48840" y="5715000"/>
            <a:ext cx="7635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it honestly: A3 Ecosystem Intelligence is the networking and ecosystem agent that extends Track B research results into real ecosystem intelligence.</a:t>
            </a:r>
            <a:endParaRPr lang="en-US" sz="890" dirty="0"/>
          </a:p>
        </p:txBody>
      </p:sp>
      <p:sp>
        <p:nvSpPr>
          <p:cNvPr id="123" name="Text 121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E1/E2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E1 + E2 Architecture — Matching and Event Intelligence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who can help the startup and which ecosystem events deserve attention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691640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960" y="169164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37744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E1 — Predictive Matching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2331720" y="2487168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1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probability of successful collaboration</a:t>
            </a:r>
            <a:endParaRPr lang="en-US" sz="810" dirty="0"/>
          </a:p>
        </p:txBody>
      </p:sp>
      <p:sp>
        <p:nvSpPr>
          <p:cNvPr id="104" name="Text 102"/>
          <p:cNvSpPr/>
          <p:nvPr/>
        </p:nvSpPr>
        <p:spPr>
          <a:xfrm>
            <a:off x="1234440" y="2880360"/>
            <a:ext cx="3429000" cy="8046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Sector alignment analysis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 compatibility: seed / Series A / idea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Funding size vs investor ticket comparison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 complementarity scoring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Historical pattern weighting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 probability prediction + explainability</a:t>
            </a:r>
            <a:endParaRPr lang="en-US" sz="820" dirty="0"/>
          </a:p>
        </p:txBody>
      </p:sp>
      <p:sp>
        <p:nvSpPr>
          <p:cNvPr id="105" name="Text 103"/>
          <p:cNvSpPr/>
          <p:nvPr/>
        </p:nvSpPr>
        <p:spPr>
          <a:xfrm>
            <a:off x="1234440" y="4251960"/>
            <a:ext cx="356616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Investor A -&gt; 64% funding probability + reason codes</a:t>
            </a:r>
            <a:endParaRPr lang="en-US" sz="830" dirty="0"/>
          </a:p>
        </p:txBody>
      </p:sp>
      <p:sp>
        <p:nvSpPr>
          <p:cNvPr id="106" name="Shape 104"/>
          <p:cNvSpPr/>
          <p:nvPr/>
        </p:nvSpPr>
        <p:spPr>
          <a:xfrm>
            <a:off x="6309360" y="1691640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09360" y="169164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E5B3"/>
          </a:solidFill>
          <a:ln w="13335">
            <a:solidFill>
              <a:srgbClr val="FFE5B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62672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E2 — Strategic Event Intelligence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7909560" y="2487168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1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events with highest strategic ROI</a:t>
            </a:r>
            <a:endParaRPr lang="en-US" sz="810" dirty="0"/>
          </a:p>
        </p:txBody>
      </p:sp>
      <p:sp>
        <p:nvSpPr>
          <p:cNvPr id="110" name="Text 108"/>
          <p:cNvSpPr/>
          <p:nvPr/>
        </p:nvSpPr>
        <p:spPr>
          <a:xfrm>
            <a:off x="6720840" y="2880360"/>
            <a:ext cx="3429000" cy="8046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Filtering by sector and startup stage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Investor / mentor presence scoring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Networking exposure estimation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Deadline and location feasibility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Impact score generation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Relevance ranking with explanation</a:t>
            </a:r>
            <a:endParaRPr lang="en-US" sz="820" dirty="0"/>
          </a:p>
        </p:txBody>
      </p:sp>
      <p:sp>
        <p:nvSpPr>
          <p:cNvPr id="111" name="Text 109"/>
          <p:cNvSpPr/>
          <p:nvPr/>
        </p:nvSpPr>
        <p:spPr>
          <a:xfrm>
            <a:off x="6720840" y="4251960"/>
            <a:ext cx="356616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Event X -&gt; high exposure to 8 target investors</a:t>
            </a:r>
            <a:endParaRPr lang="en-US" sz="830" dirty="0"/>
          </a:p>
        </p:txBody>
      </p:sp>
      <p:sp>
        <p:nvSpPr>
          <p:cNvPr id="112" name="Shape 110"/>
          <p:cNvSpPr/>
          <p:nvPr/>
        </p:nvSpPr>
        <p:spPr>
          <a:xfrm>
            <a:off x="1280160" y="52578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25880" y="5326380"/>
            <a:ext cx="17373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input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3118104" y="5257800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163824" y="5326380"/>
            <a:ext cx="27432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760" dirty="0"/>
          </a:p>
        </p:txBody>
      </p:sp>
      <p:sp>
        <p:nvSpPr>
          <p:cNvPr id="116" name="Shape 114"/>
          <p:cNvSpPr/>
          <p:nvPr/>
        </p:nvSpPr>
        <p:spPr>
          <a:xfrm>
            <a:off x="5961888" y="525780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07608" y="5326380"/>
            <a:ext cx="1920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score</a:t>
            </a:r>
            <a:endParaRPr lang="en-US" sz="760" dirty="0"/>
          </a:p>
        </p:txBody>
      </p:sp>
      <p:sp>
        <p:nvSpPr>
          <p:cNvPr id="118" name="Shape 116"/>
          <p:cNvSpPr/>
          <p:nvPr/>
        </p:nvSpPr>
        <p:spPr>
          <a:xfrm>
            <a:off x="7982712" y="5257800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28432" y="5326380"/>
            <a:ext cx="23774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object</a:t>
            </a:r>
            <a:endParaRPr lang="en-US" sz="760" dirty="0"/>
          </a:p>
        </p:txBody>
      </p:sp>
      <p:sp>
        <p:nvSpPr>
          <p:cNvPr id="120" name="Shape 118"/>
          <p:cNvSpPr/>
          <p:nvPr/>
        </p:nvSpPr>
        <p:spPr>
          <a:xfrm>
            <a:off x="1280160" y="551383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325880" y="5577840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profile</a:t>
            </a:r>
            <a:endParaRPr lang="en-US" sz="735" dirty="0"/>
          </a:p>
        </p:txBody>
      </p:sp>
      <p:sp>
        <p:nvSpPr>
          <p:cNvPr id="122" name="Shape 120"/>
          <p:cNvSpPr/>
          <p:nvPr/>
        </p:nvSpPr>
        <p:spPr>
          <a:xfrm>
            <a:off x="3118104" y="5513832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163824" y="5577840"/>
            <a:ext cx="27432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sector, stage, needs</a:t>
            </a:r>
            <a:endParaRPr lang="en-US" sz="735" dirty="0"/>
          </a:p>
        </p:txBody>
      </p:sp>
      <p:sp>
        <p:nvSpPr>
          <p:cNvPr id="124" name="Shape 122"/>
          <p:cNvSpPr/>
          <p:nvPr/>
        </p:nvSpPr>
        <p:spPr>
          <a:xfrm>
            <a:off x="5961888" y="5513832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07608" y="5577840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/ ML</a:t>
            </a:r>
            <a:endParaRPr lang="en-US" sz="735" dirty="0"/>
          </a:p>
        </p:txBody>
      </p:sp>
      <p:sp>
        <p:nvSpPr>
          <p:cNvPr id="126" name="Shape 124"/>
          <p:cNvSpPr/>
          <p:nvPr/>
        </p:nvSpPr>
        <p:spPr>
          <a:xfrm>
            <a:off x="7982712" y="5513832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028432" y="5577840"/>
            <a:ext cx="2377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matches</a:t>
            </a:r>
            <a:endParaRPr lang="en-US" sz="735" dirty="0"/>
          </a:p>
        </p:txBody>
      </p:sp>
      <p:sp>
        <p:nvSpPr>
          <p:cNvPr id="128" name="Shape 126"/>
          <p:cNvSpPr/>
          <p:nvPr/>
        </p:nvSpPr>
        <p:spPr>
          <a:xfrm>
            <a:off x="1280160" y="5769864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325880" y="5833872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 readiness</a:t>
            </a:r>
            <a:endParaRPr lang="en-US" sz="735" dirty="0"/>
          </a:p>
        </p:txBody>
      </p:sp>
      <p:sp>
        <p:nvSpPr>
          <p:cNvPr id="130" name="Shape 128"/>
          <p:cNvSpPr/>
          <p:nvPr/>
        </p:nvSpPr>
        <p:spPr>
          <a:xfrm>
            <a:off x="3118104" y="5769864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163824" y="5833872"/>
            <a:ext cx="27432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status, blockers</a:t>
            </a:r>
            <a:endParaRPr lang="en-US" sz="735" dirty="0"/>
          </a:p>
        </p:txBody>
      </p:sp>
      <p:sp>
        <p:nvSpPr>
          <p:cNvPr id="132" name="Shape 130"/>
          <p:cNvSpPr/>
          <p:nvPr/>
        </p:nvSpPr>
        <p:spPr>
          <a:xfrm>
            <a:off x="5961888" y="5769864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007608" y="5833872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filter</a:t>
            </a:r>
            <a:endParaRPr lang="en-US" sz="735" dirty="0"/>
          </a:p>
        </p:txBody>
      </p:sp>
      <p:sp>
        <p:nvSpPr>
          <p:cNvPr id="134" name="Shape 132"/>
          <p:cNvSpPr/>
          <p:nvPr/>
        </p:nvSpPr>
        <p:spPr>
          <a:xfrm>
            <a:off x="7982712" y="5769864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028432" y="5833872"/>
            <a:ext cx="2377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outreach list</a:t>
            </a:r>
            <a:endParaRPr lang="en-US" sz="735" dirty="0"/>
          </a:p>
        </p:txBody>
      </p:sp>
      <p:sp>
        <p:nvSpPr>
          <p:cNvPr id="136" name="Shape 134"/>
          <p:cNvSpPr/>
          <p:nvPr/>
        </p:nvSpPr>
        <p:spPr>
          <a:xfrm>
            <a:off x="1280160" y="6025896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325880" y="6089904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 sources</a:t>
            </a:r>
            <a:endParaRPr lang="en-US" sz="735" dirty="0"/>
          </a:p>
        </p:txBody>
      </p:sp>
      <p:sp>
        <p:nvSpPr>
          <p:cNvPr id="138" name="Shape 136"/>
          <p:cNvSpPr/>
          <p:nvPr/>
        </p:nvSpPr>
        <p:spPr>
          <a:xfrm>
            <a:off x="3118104" y="6025896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163824" y="6089904"/>
            <a:ext cx="27432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LinkedIn/events/web</a:t>
            </a:r>
            <a:endParaRPr lang="en-US" sz="735" dirty="0"/>
          </a:p>
        </p:txBody>
      </p:sp>
      <p:sp>
        <p:nvSpPr>
          <p:cNvPr id="140" name="Shape 138"/>
          <p:cNvSpPr/>
          <p:nvPr/>
        </p:nvSpPr>
        <p:spPr>
          <a:xfrm>
            <a:off x="5961888" y="6025896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007608" y="6089904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presence score</a:t>
            </a:r>
            <a:endParaRPr lang="en-US" sz="735" dirty="0"/>
          </a:p>
        </p:txBody>
      </p:sp>
      <p:sp>
        <p:nvSpPr>
          <p:cNvPr id="142" name="Shape 140"/>
          <p:cNvSpPr/>
          <p:nvPr/>
        </p:nvSpPr>
        <p:spPr>
          <a:xfrm>
            <a:off x="7982712" y="6025896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028432" y="6089904"/>
            <a:ext cx="2377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recommendation</a:t>
            </a:r>
            <a:endParaRPr lang="en-US" sz="735" dirty="0"/>
          </a:p>
        </p:txBody>
      </p:sp>
      <p:sp>
        <p:nvSpPr>
          <p:cNvPr id="144" name="Text 14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E3 Ecosystem Graph — Network Reasoning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algorithms for centrality, warm introductions, bridge detection and opportunity discovery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1051560" y="16916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173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Centrality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325880" y="2221992"/>
            <a:ext cx="19202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PageRank, Betweenness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4709160" y="16916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CDEBCF"/>
          </a:solidFill>
          <a:ln w="13335">
            <a:solidFill>
              <a:srgbClr val="CDEBC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749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Shortest Path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983480" y="2221992"/>
            <a:ext cx="19202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/ Dijkstra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8366760" y="16916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E9C4EA"/>
          </a:solidFill>
          <a:ln w="13335">
            <a:solidFill>
              <a:srgbClr val="E9C4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7325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Detection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8641080" y="2221992"/>
            <a:ext cx="19202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algorithms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1828800" y="4480560"/>
            <a:ext cx="640080" cy="-86868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68880" y="3611880"/>
            <a:ext cx="640080" cy="68580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08960" y="4297680"/>
            <a:ext cx="640080" cy="-10515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749040" y="3246120"/>
            <a:ext cx="822960" cy="7315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72000" y="3977640"/>
            <a:ext cx="731520" cy="-5943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03520" y="3383280"/>
            <a:ext cx="731520" cy="5943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35040" y="3977640"/>
            <a:ext cx="548640" cy="-64008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83680" y="3337560"/>
            <a:ext cx="822960" cy="8229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4160520"/>
            <a:ext cx="640080" cy="-7315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046720" y="3429000"/>
            <a:ext cx="640080" cy="64008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686800" y="4069080"/>
            <a:ext cx="640080" cy="-8229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49040" y="3246120"/>
            <a:ext cx="2286000" cy="7315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03520" y="3383280"/>
            <a:ext cx="1280160" cy="-457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68880" y="3611880"/>
            <a:ext cx="2103120" cy="3657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06640" y="4160520"/>
            <a:ext cx="1920240" cy="-91440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755648" y="440740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395728" y="35387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35808" y="42245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675888" y="3172968"/>
            <a:ext cx="146304" cy="146304"/>
          </a:xfrm>
          <a:prstGeom prst="ellipse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721608" y="3218688"/>
            <a:ext cx="54864" cy="548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4498848" y="390448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30368" y="33101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61888" y="390448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510528" y="3264408"/>
            <a:ext cx="146304" cy="146304"/>
          </a:xfrm>
          <a:prstGeom prst="ellipse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556248" y="3310128"/>
            <a:ext cx="54864" cy="548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7333488" y="408736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73568" y="335584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13648" y="39959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253728" y="317296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148840" y="5010912"/>
            <a:ext cx="96012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contact</a:t>
            </a:r>
            <a:endParaRPr lang="en-US" sz="680" dirty="0"/>
          </a:p>
        </p:txBody>
      </p:sp>
      <p:sp>
        <p:nvSpPr>
          <p:cNvPr id="139" name="Text 137"/>
          <p:cNvSpPr/>
          <p:nvPr/>
        </p:nvSpPr>
        <p:spPr>
          <a:xfrm>
            <a:off x="3749040" y="5010912"/>
            <a:ext cx="14630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High-leverage bridge node</a:t>
            </a:r>
            <a:endParaRPr lang="en-US" sz="680" dirty="0"/>
          </a:p>
        </p:txBody>
      </p:sp>
      <p:sp>
        <p:nvSpPr>
          <p:cNvPr id="140" name="Shape 138"/>
          <p:cNvSpPr/>
          <p:nvPr/>
        </p:nvSpPr>
        <p:spPr>
          <a:xfrm>
            <a:off x="2788920" y="5330952"/>
            <a:ext cx="6766560" cy="320040"/>
          </a:xfrm>
          <a:prstGeom prst="roundRect">
            <a:avLst>
              <a:gd name="adj" fmla="val 22857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063240" y="5449824"/>
            <a:ext cx="6217920" cy="822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insight: Connecting with Mentor Y unlocks 12 investors within 2 hops</a:t>
            </a:r>
            <a:endParaRPr lang="en-US" sz="780" dirty="0"/>
          </a:p>
        </p:txBody>
      </p:sp>
      <p:sp>
        <p:nvSpPr>
          <p:cNvPr id="142" name="Shape 140"/>
          <p:cNvSpPr/>
          <p:nvPr/>
        </p:nvSpPr>
        <p:spPr>
          <a:xfrm>
            <a:off x="914400" y="5833872"/>
            <a:ext cx="9966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43000" y="5943600"/>
            <a:ext cx="941832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model: nodes = founders, investors, mentors, events, accelerators. Edges = meetings, intros, co-attendance, sector relation, past funding.</a:t>
            </a:r>
            <a:endParaRPr lang="en-US" sz="760" dirty="0"/>
          </a:p>
        </p:txBody>
      </p:sp>
      <p:sp>
        <p:nvSpPr>
          <p:cNvPr id="144" name="Text 14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E4 Relationship Health &amp; Auto-DB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timing, decay risk, personalized follow-up and automatic ecosystem database refresh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777240" y="1627632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7240" y="162763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48840" y="185623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E4 — Relationship Health &amp; Timing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2011680" y="2468880"/>
            <a:ext cx="23774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9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relationship strength + optimal follow-up timing</a:t>
            </a:r>
            <a:endParaRPr lang="en-US" sz="790" dirty="0"/>
          </a:p>
        </p:txBody>
      </p:sp>
      <p:sp>
        <p:nvSpPr>
          <p:cNvPr id="104" name="Text 102"/>
          <p:cNvSpPr/>
          <p:nvPr/>
        </p:nvSpPr>
        <p:spPr>
          <a:xfrm>
            <a:off x="1234440" y="2862072"/>
            <a:ext cx="3566160" cy="7498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Interaction frequency analysis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Response delay measurement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trend detection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Decay probability with exponential model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Optimal contact window prediction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Personalized message generation</a:t>
            </a:r>
            <a:endParaRPr lang="en-US" sz="835" dirty="0"/>
          </a:p>
        </p:txBody>
      </p:sp>
      <p:sp>
        <p:nvSpPr>
          <p:cNvPr id="105" name="Text 103"/>
          <p:cNvSpPr/>
          <p:nvPr/>
        </p:nvSpPr>
        <p:spPr>
          <a:xfrm>
            <a:off x="1234440" y="4251960"/>
            <a:ext cx="34747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high decay risk in 10 days -&gt; contact this week</a:t>
            </a:r>
            <a:endParaRPr lang="en-US" sz="830" dirty="0"/>
          </a:p>
        </p:txBody>
      </p:sp>
      <p:sp>
        <p:nvSpPr>
          <p:cNvPr id="106" name="Shape 104"/>
          <p:cNvSpPr/>
          <p:nvPr/>
        </p:nvSpPr>
        <p:spPr>
          <a:xfrm>
            <a:off x="6172200" y="1627632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72200" y="162763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1C8BA"/>
          </a:solidFill>
          <a:ln w="13335">
            <a:solidFill>
              <a:srgbClr val="F1C8B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35240" y="1856232"/>
            <a:ext cx="2194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Agent + Auto DB Update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7360920" y="2468880"/>
            <a:ext cx="25603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9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crawling -&gt; entity resolution -&gt; CRUD database</a:t>
            </a:r>
            <a:endParaRPr lang="en-US" sz="790" dirty="0"/>
          </a:p>
        </p:txBody>
      </p:sp>
      <p:sp>
        <p:nvSpPr>
          <p:cNvPr id="110" name="Shape 108"/>
          <p:cNvSpPr/>
          <p:nvPr/>
        </p:nvSpPr>
        <p:spPr>
          <a:xfrm>
            <a:off x="6812280" y="2834640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BDE0F2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867144" y="2884932"/>
            <a:ext cx="3547872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/ on-demand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8458200" y="3182112"/>
            <a:ext cx="292608" cy="292608"/>
          </a:xfrm>
          <a:prstGeom prst="downArrow">
            <a:avLst/>
          </a:prstGeom>
          <a:solidFill>
            <a:srgbClr val="9CC6E7"/>
          </a:solidFill>
          <a:ln w="12700">
            <a:solidFill>
              <a:srgbClr val="9CC6E7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629400" y="356616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84264" y="3616452"/>
            <a:ext cx="1033272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8183880" y="356616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7FD1E4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38744" y="3616452"/>
            <a:ext cx="1033272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9738360" y="356616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1C8BA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793224" y="3616452"/>
            <a:ext cx="1033272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458200" y="3931920"/>
            <a:ext cx="292608" cy="292608"/>
          </a:xfrm>
          <a:prstGeom prst="downArrow">
            <a:avLst/>
          </a:prstGeom>
          <a:solidFill>
            <a:srgbClr val="9CC6E7"/>
          </a:solidFill>
          <a:ln w="12700">
            <a:solidFill>
              <a:srgbClr val="9CC6E7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635240" y="427939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98C4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90104" y="4329684"/>
            <a:ext cx="185623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Resolver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 + normalize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292608" cy="292608"/>
          </a:xfrm>
          <a:prstGeom prst="downArrow">
            <a:avLst/>
          </a:prstGeom>
          <a:solidFill>
            <a:srgbClr val="9CC6E7"/>
          </a:solidFill>
          <a:ln w="12700">
            <a:solidFill>
              <a:srgbClr val="9CC6E7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26680" y="501091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BDE0F2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781544" y="5061204"/>
            <a:ext cx="167335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Manager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+ versioning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005840" y="5669280"/>
            <a:ext cx="9784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234440" y="5788152"/>
            <a:ext cx="932688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5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tech stack: PostgreSQL + pgvector for entities, NetworkX for graph analytics, scikit-learn/XGBoost for scoring, Selenium/BeautifulSoup for controlled crawling.</a:t>
            </a:r>
            <a:endParaRPr lang="en-US" sz="755" dirty="0"/>
          </a:p>
        </p:txBody>
      </p:sp>
      <p:sp>
        <p:nvSpPr>
          <p:cNvPr id="127" name="Text 125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&amp; Technologies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evaluation and technical stack across legal, document and ecosystem agents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777240" y="141732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protocol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51560" y="2029968"/>
            <a:ext cx="3429000" cy="7772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Synthetic legal document set for controlled tests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Strict-mode execution on sample startup dossiers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inspection of PASS / WARNING / FAIL decisions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Cross-check expected missing documents vs returned result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Professor demo: run sample, inspect JSON, verify dashboard</a:t>
            </a:r>
            <a:endParaRPr lang="en-US" sz="830" dirty="0"/>
          </a:p>
        </p:txBody>
      </p:sp>
      <p:sp>
        <p:nvSpPr>
          <p:cNvPr id="103" name="Shape 101"/>
          <p:cNvSpPr/>
          <p:nvPr/>
        </p:nvSpPr>
        <p:spPr>
          <a:xfrm>
            <a:off x="6080760" y="141732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5508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evaluation metrics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355080" y="2029968"/>
            <a:ext cx="3383280" cy="7772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completeness score: 0-100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risk score: 0-100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Act eligibility score: 0-100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Strict violations count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evidence quality: direct, matched, relevant links</a:t>
            </a:r>
            <a:endParaRPr lang="en-US" sz="830" dirty="0"/>
          </a:p>
        </p:txBody>
      </p:sp>
      <p:sp>
        <p:nvSpPr>
          <p:cNvPr id="106" name="Shape 104"/>
          <p:cNvSpPr/>
          <p:nvPr/>
        </p:nvSpPr>
        <p:spPr>
          <a:xfrm>
            <a:off x="822960" y="37033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68680" y="3771900"/>
            <a:ext cx="15087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760" dirty="0"/>
          </a:p>
        </p:txBody>
      </p:sp>
      <p:sp>
        <p:nvSpPr>
          <p:cNvPr id="108" name="Shape 106"/>
          <p:cNvSpPr/>
          <p:nvPr/>
        </p:nvSpPr>
        <p:spPr>
          <a:xfrm>
            <a:off x="2432304" y="3703320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478024" y="3771900"/>
            <a:ext cx="37490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/ model</a:t>
            </a:r>
            <a:endParaRPr lang="en-US" sz="760" dirty="0"/>
          </a:p>
        </p:txBody>
      </p:sp>
      <p:sp>
        <p:nvSpPr>
          <p:cNvPr id="110" name="Shape 108"/>
          <p:cNvSpPr/>
          <p:nvPr/>
        </p:nvSpPr>
        <p:spPr>
          <a:xfrm>
            <a:off x="6281928" y="3703320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27648" y="3771900"/>
            <a:ext cx="44348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focus</a:t>
            </a:r>
            <a:endParaRPr lang="en-US" sz="760" dirty="0"/>
          </a:p>
        </p:txBody>
      </p:sp>
      <p:sp>
        <p:nvSpPr>
          <p:cNvPr id="112" name="Shape 110"/>
          <p:cNvSpPr/>
          <p:nvPr/>
        </p:nvSpPr>
        <p:spPr>
          <a:xfrm>
            <a:off x="822960" y="399592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68680" y="4059936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reasoning</a:t>
            </a:r>
            <a:endParaRPr lang="en-US" sz="735" dirty="0"/>
          </a:p>
        </p:txBody>
      </p:sp>
      <p:sp>
        <p:nvSpPr>
          <p:cNvPr id="114" name="Shape 112"/>
          <p:cNvSpPr/>
          <p:nvPr/>
        </p:nvSpPr>
        <p:spPr>
          <a:xfrm>
            <a:off x="2432304" y="399592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478024" y="4059936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Ollama-compatible API + deepseek-r1:7b</a:t>
            </a:r>
            <a:endParaRPr lang="en-US" sz="735" dirty="0"/>
          </a:p>
        </p:txBody>
      </p:sp>
      <p:sp>
        <p:nvSpPr>
          <p:cNvPr id="116" name="Shape 114"/>
          <p:cNvSpPr/>
          <p:nvPr/>
        </p:nvSpPr>
        <p:spPr>
          <a:xfrm>
            <a:off x="6281928" y="3995928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327648" y="4059936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reasoning, JSON fallback, timeout behavior</a:t>
            </a:r>
            <a:endParaRPr lang="en-US" sz="735" dirty="0"/>
          </a:p>
        </p:txBody>
      </p:sp>
      <p:sp>
        <p:nvSpPr>
          <p:cNvPr id="118" name="Shape 116"/>
          <p:cNvSpPr/>
          <p:nvPr/>
        </p:nvSpPr>
        <p:spPr>
          <a:xfrm>
            <a:off x="822960" y="4288536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68680" y="4352544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orchestration</a:t>
            </a:r>
            <a:endParaRPr lang="en-US" sz="735" dirty="0"/>
          </a:p>
        </p:txBody>
      </p:sp>
      <p:sp>
        <p:nvSpPr>
          <p:cNvPr id="120" name="Shape 118"/>
          <p:cNvSpPr/>
          <p:nvPr/>
        </p:nvSpPr>
        <p:spPr>
          <a:xfrm>
            <a:off x="2432304" y="4288536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478024" y="4352544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A2ABus + A2AMessage</a:t>
            </a:r>
            <a:endParaRPr lang="en-US" sz="735" dirty="0"/>
          </a:p>
        </p:txBody>
      </p:sp>
      <p:sp>
        <p:nvSpPr>
          <p:cNvPr id="122" name="Shape 120"/>
          <p:cNvSpPr/>
          <p:nvPr/>
        </p:nvSpPr>
        <p:spPr>
          <a:xfrm>
            <a:off x="6281928" y="4288536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327648" y="4352544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registration, sender/receiver/action/payload flow</a:t>
            </a:r>
            <a:endParaRPr lang="en-US" sz="735" dirty="0"/>
          </a:p>
        </p:txBody>
      </p:sp>
      <p:sp>
        <p:nvSpPr>
          <p:cNvPr id="124" name="Shape 122"/>
          <p:cNvSpPr/>
          <p:nvPr/>
        </p:nvSpPr>
        <p:spPr>
          <a:xfrm>
            <a:off x="822960" y="4581144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68680" y="4645152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context</a:t>
            </a:r>
            <a:endParaRPr lang="en-US" sz="735" dirty="0"/>
          </a:p>
        </p:txBody>
      </p:sp>
      <p:sp>
        <p:nvSpPr>
          <p:cNvPr id="126" name="Shape 124"/>
          <p:cNvSpPr/>
          <p:nvPr/>
        </p:nvSpPr>
        <p:spPr>
          <a:xfrm>
            <a:off x="2432304" y="4581144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478024" y="4645152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MCPContextManager + JSON-RPC tools</a:t>
            </a:r>
            <a:endParaRPr lang="en-US" sz="735" dirty="0"/>
          </a:p>
        </p:txBody>
      </p:sp>
      <p:sp>
        <p:nvSpPr>
          <p:cNvPr id="128" name="Shape 126"/>
          <p:cNvSpPr/>
          <p:nvPr/>
        </p:nvSpPr>
        <p:spPr>
          <a:xfrm>
            <a:off x="6281928" y="4581144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327648" y="4645152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state serialization and tool-based calls</a:t>
            </a:r>
            <a:endParaRPr lang="en-US" sz="735" dirty="0"/>
          </a:p>
        </p:txBody>
      </p:sp>
      <p:sp>
        <p:nvSpPr>
          <p:cNvPr id="130" name="Shape 128"/>
          <p:cNvSpPr/>
          <p:nvPr/>
        </p:nvSpPr>
        <p:spPr>
          <a:xfrm>
            <a:off x="822960" y="487375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68680" y="4937760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parsing</a:t>
            </a:r>
            <a:endParaRPr lang="en-US" sz="735" dirty="0"/>
          </a:p>
        </p:txBody>
      </p:sp>
      <p:sp>
        <p:nvSpPr>
          <p:cNvPr id="132" name="Shape 130"/>
          <p:cNvSpPr/>
          <p:nvPr/>
        </p:nvSpPr>
        <p:spPr>
          <a:xfrm>
            <a:off x="2432304" y="4873752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478024" y="4937760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pytesseract, pypdf, python-docx, python-pptx</a:t>
            </a:r>
            <a:endParaRPr lang="en-US" sz="735" dirty="0"/>
          </a:p>
        </p:txBody>
      </p:sp>
      <p:sp>
        <p:nvSpPr>
          <p:cNvPr id="134" name="Shape 132"/>
          <p:cNvSpPr/>
          <p:nvPr/>
        </p:nvSpPr>
        <p:spPr>
          <a:xfrm>
            <a:off x="6281928" y="4873752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327648" y="4937760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 and document type handling</a:t>
            </a:r>
            <a:endParaRPr lang="en-US" sz="735" dirty="0"/>
          </a:p>
        </p:txBody>
      </p:sp>
      <p:sp>
        <p:nvSpPr>
          <p:cNvPr id="136" name="Shape 134"/>
          <p:cNvSpPr/>
          <p:nvPr/>
        </p:nvSpPr>
        <p:spPr>
          <a:xfrm>
            <a:off x="822960" y="516636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68680" y="5230368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735" dirty="0"/>
          </a:p>
        </p:txBody>
      </p:sp>
      <p:sp>
        <p:nvSpPr>
          <p:cNvPr id="138" name="Shape 136"/>
          <p:cNvSpPr/>
          <p:nvPr/>
        </p:nvSpPr>
        <p:spPr>
          <a:xfrm>
            <a:off x="2432304" y="5166360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478024" y="5230368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HSV checks + visual heuristics</a:t>
            </a:r>
            <a:endParaRPr lang="en-US" sz="735" dirty="0"/>
          </a:p>
        </p:txBody>
      </p:sp>
      <p:sp>
        <p:nvSpPr>
          <p:cNvPr id="140" name="Shape 138"/>
          <p:cNvSpPr/>
          <p:nvPr/>
        </p:nvSpPr>
        <p:spPr>
          <a:xfrm>
            <a:off x="6281928" y="5166360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327648" y="5230368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signature/stamp/quality signals</a:t>
            </a:r>
            <a:endParaRPr lang="en-US" sz="735" dirty="0"/>
          </a:p>
        </p:txBody>
      </p:sp>
      <p:sp>
        <p:nvSpPr>
          <p:cNvPr id="142" name="Shape 140"/>
          <p:cNvSpPr/>
          <p:nvPr/>
        </p:nvSpPr>
        <p:spPr>
          <a:xfrm>
            <a:off x="822960" y="545896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68680" y="5522976"/>
            <a:ext cx="1508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735" dirty="0"/>
          </a:p>
        </p:txBody>
      </p:sp>
      <p:sp>
        <p:nvSpPr>
          <p:cNvPr id="144" name="Shape 142"/>
          <p:cNvSpPr/>
          <p:nvPr/>
        </p:nvSpPr>
        <p:spPr>
          <a:xfrm>
            <a:off x="2432304" y="545896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478024" y="5522976"/>
            <a:ext cx="3749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ReportLab + JSON export</a:t>
            </a:r>
            <a:endParaRPr lang="en-US" sz="735" dirty="0"/>
          </a:p>
        </p:txBody>
      </p:sp>
      <p:sp>
        <p:nvSpPr>
          <p:cNvPr id="146" name="Shape 144"/>
          <p:cNvSpPr/>
          <p:nvPr/>
        </p:nvSpPr>
        <p:spPr>
          <a:xfrm>
            <a:off x="6281928" y="5458968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327648" y="5522976"/>
            <a:ext cx="44348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client-ready proof artifacts</a:t>
            </a:r>
            <a:endParaRPr lang="en-US" sz="735" dirty="0"/>
          </a:p>
        </p:txBody>
      </p:sp>
      <p:sp>
        <p:nvSpPr>
          <p:cNvPr id="148" name="Shape 146"/>
          <p:cNvSpPr/>
          <p:nvPr/>
        </p:nvSpPr>
        <p:spPr>
          <a:xfrm>
            <a:off x="1280160" y="5715000"/>
            <a:ext cx="9144000" cy="384048"/>
          </a:xfrm>
          <a:prstGeom prst="roundRect">
            <a:avLst>
              <a:gd name="adj" fmla="val 19048"/>
            </a:avLst>
          </a:prstGeom>
          <a:solidFill>
            <a:srgbClr val="D9EEF7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554480" y="5843016"/>
            <a:ext cx="864108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statement: the system is evaluated as an agentic legal pipeline, not only as a UI: models, A2A messages, MCP context, document scores and final reports are all inspectable.</a:t>
            </a:r>
            <a:endParaRPr lang="en-US" sz="790" dirty="0"/>
          </a:p>
        </p:txBody>
      </p:sp>
      <p:sp>
        <p:nvSpPr>
          <p:cNvPr id="150" name="Text 148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B - Legal &amp; Ecosystem Agents</dc:title>
  <dc:subject>Track B and Ecosystem Intelligence technical redesign</dc:subject>
  <dc:creator>Codex</dc:creator>
  <cp:lastModifiedBy>Codex</cp:lastModifiedBy>
  <cp:revision>1</cp:revision>
  <dcterms:created xsi:type="dcterms:W3CDTF">2026-05-03T21:16:00Z</dcterms:created>
  <dcterms:modified xsi:type="dcterms:W3CDTF">2026-05-03T21:16:00Z</dcterms:modified>
</cp:coreProperties>
</file>