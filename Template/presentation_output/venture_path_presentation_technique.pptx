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VENTURE PATH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7498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Plateforme multi-agents pour transformer une idée startup en plan exécutable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5989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technique complète : produit, architecture, tracks A/B/C, APIs, données, sécurité, limites et roadmap.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39776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F3036"/>
          </a:solidFill>
          <a:ln w="13970">
            <a:solidFill>
              <a:srgbClr val="13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4046220"/>
            <a:ext cx="108813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React + Vite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075688" y="39776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62B18"/>
          </a:solidFill>
          <a:ln w="1397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046220"/>
            <a:ext cx="108813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E9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 APIs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447288" y="39776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B1D1A"/>
          </a:solidFill>
          <a:ln w="13970">
            <a:solidFill>
              <a:srgbClr val="EB6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4046220"/>
            <a:ext cx="108813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D2C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LLM / Agents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809744" y="397764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F3036"/>
          </a:solidFill>
          <a:ln w="13970">
            <a:solidFill>
              <a:srgbClr val="13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4046220"/>
            <a:ext cx="136245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Supabase-ready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098280" y="117043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48672" y="1170432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E9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48672" y="2066544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Legal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962656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2C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48672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 | PROBLÈME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Pourquoi cette plateforme existe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fondateur early-stage n’a pas seulement besoin d’une page web : il a besoin d’une chaîne de décision complète.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984248"/>
            <a:ext cx="3657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vrai besoin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2670048"/>
            <a:ext cx="44805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Clarifier une idée encore floue
</a:t>
            </a:r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Comprendre les risques marché, MVP, finance et légal
</a:t>
            </a:r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Transformer des décisions en tâches concrètes
</a:t>
            </a:r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Améliorer le pitch avec un feedback exploitable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0" y="1847088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2148840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Hypothèse produit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89904" y="2724912"/>
            <a:ext cx="4343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plateforme multi-track réduit la friction entre réflexion, conformité et exécution. Chaque track devient une étape du parcours fondateur, pas un outil isolé.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10972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80760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métier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4069080"/>
            <a:ext cx="10972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43800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locales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006840" y="4069080"/>
            <a:ext cx="12801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rapports générés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| VISION PRODUIT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parcours fondateur en trois mouvements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track répond à une question différente du cycle startup.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993392"/>
            <a:ext cx="2816352" cy="3337560"/>
          </a:xfrm>
          <a:prstGeom prst="roundRect">
            <a:avLst>
              <a:gd name="adj" fmla="val 2597"/>
            </a:avLst>
          </a:prstGeom>
          <a:solidFill>
            <a:srgbClr val="0F3036"/>
          </a:solidFill>
          <a:ln w="16510">
            <a:solidFill>
              <a:srgbClr val="13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70048"/>
            <a:ext cx="221284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Validate Your Idea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50976" y="3401568"/>
            <a:ext cx="21945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Analyse idée et marché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MVP, opérations, finance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Verdict et incertitudes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1993392"/>
            <a:ext cx="2816352" cy="3337560"/>
          </a:xfrm>
          <a:prstGeom prst="roundRect">
            <a:avLst>
              <a:gd name="adj" fmla="val 2597"/>
            </a:avLst>
          </a:prstGeom>
          <a:solidFill>
            <a:srgbClr val="362B18"/>
          </a:solidFill>
          <a:ln w="1651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61688" y="2670048"/>
            <a:ext cx="221284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Start the Right Way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98264" y="3401568"/>
            <a:ext cx="21945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Dossier légal Tunisie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Upload documents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Recherche publique et chatbot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07808" y="1993392"/>
            <a:ext cx="2816352" cy="3337560"/>
          </a:xfrm>
          <a:prstGeom prst="roundRect">
            <a:avLst>
              <a:gd name="adj" fmla="val 2597"/>
            </a:avLst>
          </a:prstGeom>
          <a:solidFill>
            <a:srgbClr val="3B1D1A"/>
          </a:solidFill>
          <a:ln w="16510">
            <a:solidFill>
              <a:srgbClr val="EB6A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08976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08976" y="2670048"/>
            <a:ext cx="221284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Launch &amp; Grow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845552" y="3401568"/>
            <a:ext cx="21945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 Agent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Pitch Coach vidéo
</a:t>
            </a:r>
            <a:pPr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Roadmap actions + Jira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| PARCOURS UTILISATEUR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 formulaire au livrable actionnable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front guide l’utilisateur, les bridges Python orchestrent les agents, puis les résultats reviennent en rapports lisibles.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08376"/>
            <a:ext cx="1325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Founder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formulaire / upload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290779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008376"/>
            <a:ext cx="1325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React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route par hash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290779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08376"/>
            <a:ext cx="1325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API locale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service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290779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008376"/>
            <a:ext cx="1325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 / 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traitement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290779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3008376"/>
            <a:ext cx="1325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Rapport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JSON / PDF / UI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3282696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97680" y="3282696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3282696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12480" y="3282696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9808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Pattern commun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4617720"/>
            <a:ext cx="7132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collecte structurée
</a:t>
            </a:r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appel HTTP local
</a:t>
            </a:r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normalisation du payload
</a:t>
            </a:r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orchestration spécialisée
</a:t>
            </a:r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rendu UI + export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 | ARCHITECTURE GLOBALE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SPA React branchée sur des services agents spécialisés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L’architecture reste simple côté navigateur et délègue les traitements lourds à des bridges Python isolés.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102B31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75104"/>
            <a:ext cx="2057400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React + Vite SPA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App.jsx + pages tracks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102B31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41064"/>
            <a:ext cx="2057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Supabase-ready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Auth + tables RLS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472184"/>
            <a:ext cx="18288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A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:5055 analyze/report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2514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615184"/>
            <a:ext cx="18288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B FastAPI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:5057 legal bridge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0" y="3657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758184"/>
            <a:ext cx="18288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C Execution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:5056 runner bridge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4800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4901184"/>
            <a:ext cx="18288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Pitch Coach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:5057 video bridge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0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51F22"/>
          </a:solidFill>
          <a:ln w="15240">
            <a:solidFill>
              <a:srgbClr val="EB6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020824"/>
            <a:ext cx="17373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External Track2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Orchestrator + KB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51F22"/>
          </a:solidFill>
          <a:ln w="15240">
            <a:solidFill>
              <a:srgbClr val="EB6A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300984"/>
            <a:ext cx="17373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ExecutionAgent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LLM + MCP + Jira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44805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51F22"/>
          </a:solidFill>
          <a:ln w="15240">
            <a:solidFill>
              <a:srgbClr val="EB6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581144"/>
            <a:ext cx="17373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Pitch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Whisper + LLM + reports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1800" y="2304288"/>
            <a:ext cx="731520" cy="-585216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71800" y="2487168"/>
            <a:ext cx="731520" cy="374904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71800" y="2670048"/>
            <a:ext cx="731520" cy="132588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971800" y="2852928"/>
            <a:ext cx="731520" cy="228600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25312" y="2852928"/>
            <a:ext cx="1252728" cy="-594360"/>
          </a:xfrm>
          <a:prstGeom prst="line">
            <a:avLst/>
          </a:prstGeom>
          <a:noFill/>
          <a:ln w="1778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25312" y="3995928"/>
            <a:ext cx="1252728" cy="-457200"/>
          </a:xfrm>
          <a:prstGeom prst="line">
            <a:avLst/>
          </a:prstGeom>
          <a:noFill/>
          <a:ln w="1778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25312" y="5138928"/>
            <a:ext cx="1252728" cy="-320040"/>
          </a:xfrm>
          <a:prstGeom prst="line">
            <a:avLst/>
          </a:prstGeom>
          <a:noFill/>
          <a:ln w="1778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13232" y="5870448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E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technique : Track B et Pitch Coach déclarent tous deux le port 5057. À corriger avant démo simultanée.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 | FRONTEND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Une SPA modulaire orientée tracks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front privilégie des pages dédiées par track et des composants marketing réutilisables.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Structure UI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242316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App.jsx route par hash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TopBar, Footer, Hero, Services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Track1Analyzer / Track2LegalAssistant / Track3Hub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Dark mode et micro-interactions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370832" y="1847088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State &amp; UX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242316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useState pour formulaires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fetch vers APIs locales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rendu conditionnel des rapports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fallback local si Supabase absent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028432" y="1847088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242316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@supabase/supabase-js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tables contact/newsletter/pricing/testimonials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RLS activée
</a:t>
            </a:r>
            <a:pPr indent="0" marL="0">
              <a:buNone/>
            </a:pPr>
            <a:r>
              <a:rPr lang="en-US" sz="123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localStorage demo DB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 | TRACK 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Analyse startup : idée, marché, MVP, opérations, finance, légal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Track1 collecte un profil startup puis affiche un rapport multi-onglets sans relancer la pipeline.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331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32304"/>
            <a:ext cx="15087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Input startup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idea + team + finance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2331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432304"/>
            <a:ext cx="15087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POST /track1/analyze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 5055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93792" y="2331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432304"/>
            <a:ext cx="15087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+ MVP + risks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15784" y="2331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7224" y="2432304"/>
            <a:ext cx="15087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Report tabs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Overview → Legal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37776" y="2331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2432304"/>
            <a:ext cx="15087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Saved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/track1/report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2706624"/>
            <a:ext cx="38404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36592" y="2706624"/>
            <a:ext cx="38404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58584" y="2706624"/>
            <a:ext cx="38404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0576" y="2706624"/>
            <a:ext cx="38404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51560" y="4160520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F7FBF8"/>
          </a:solidFill>
          <a:ln w="12700">
            <a:solidFill>
              <a:srgbClr val="CBE9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que le jury doit retenir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37560" y="4379976"/>
            <a:ext cx="6766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 n’est pas un simple formulaire : il convertit des hypothèses fondateur en diagnostic structuré avec verdict, signaux d’incertitude et recommandations opérationnelles.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 | TRACK 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Assistant légal : dossier, documents, conformité et recherche externe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B sert de bridge FastAPI vers un orchestrateur légal externe, avec upload documentaire et chatbot contextuel.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/track2/sample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847088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 un cas de démonstration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/track2/upload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46888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stocke les documents uploadés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/track2/run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090672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 TrackBRequest et lance orchestrator.run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712464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/track2/chat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712464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répond avec KB + dernier résultat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/track2/research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4334256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 recherche publique structurée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1783080"/>
            <a:ext cx="3154680" cy="3154680"/>
          </a:xfrm>
          <a:prstGeom prst="roundRect">
            <a:avLst>
              <a:gd name="adj" fmla="val 2319"/>
            </a:avLst>
          </a:prstGeom>
          <a:solidFill>
            <a:srgbClr val="102B31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Moteurs internes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2542032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TrackBOrchestrator
</a:t>
            </a:r>
            <a:pPr indent="0" marL="0">
              <a:buNone/>
            </a:pPr>
            <a:r>
              <a:rPr lang="en-US" sz="10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TrackBChatbot
</a:t>
            </a:r>
            <a:pPr indent="0" marL="0">
              <a:buNone/>
            </a:pPr>
            <a:r>
              <a:rPr lang="en-US" sz="10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load_knowledge_base()
</a:t>
            </a:r>
            <a:pPr indent="0" marL="0">
              <a:buNone/>
            </a:pPr>
            <a:r>
              <a:rPr lang="en-US" sz="10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get_local_llm_client()
</a:t>
            </a:r>
            <a:pPr indent="0" marL="0">
              <a:buNone/>
            </a:pPr>
            <a:r>
              <a:rPr lang="en-US" sz="10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DuckDuckGo/Bing public HTML fallback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41248" y="5504688"/>
            <a:ext cx="9601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E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Sorties : décision finale, score, blockers strict mode, roadmap juridique, recherche Google/LinkedIn/Facebook/events, recommandations.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 | TRACK C EXECUTION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 d’exécution : de la roadmap à la file de tâches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bridge HTTP écrit l’input JSON, lance le runner Python, fusionne l’état startup et renvoie un plan exécutable.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30552"/>
            <a:ext cx="16916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React Track3Execution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formulaire MVP/team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2029968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track3_api.py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POST /track3/execution/run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2029968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130552"/>
            <a:ext cx="16916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track3_run_agent.py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merge_state()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2029968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ExecutionOrchestrator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LLM + KB + MCP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33472" y="2386584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94960" y="2386584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2386584"/>
            <a:ext cx="475488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377647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Entrées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315968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startup_profile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mvp_plan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team + availability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live_status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77647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995928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Traitements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4315968"/>
            <a:ext cx="21488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normalisation skills/priorités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 state + constraints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LocalKnowledgeBase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MCPProjectOpsClient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377647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Sorties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41080" y="4315968"/>
            <a:ext cx="21488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executive_summary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priority_queue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ready_queue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critic_report
</a:t>
            </a:r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jira summary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 | PITCH COACH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Analyse vidéo agentique : delivery, contenu, narration, visuel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Pitch Coach transforme un pitch MP4/MOV/MKV en scorecard, rapport Markdown et PDF téléchargeable.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02B31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Upload vidéo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039112" y="2688336"/>
            <a:ext cx="393192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9631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Audio + transcription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822192" y="2688336"/>
            <a:ext cx="393192" cy="0"/>
          </a:xfrm>
          <a:prstGeom prst="line">
            <a:avLst/>
          </a:prstGeom>
          <a:noFill/>
          <a:ln w="1778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7939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02B31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Analyse delivery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605272" y="2688336"/>
            <a:ext cx="393192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6247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LLM contenu + narration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388352" y="2688336"/>
            <a:ext cx="393192" cy="0"/>
          </a:xfrm>
          <a:prstGeom prst="line">
            <a:avLst/>
          </a:prstGeom>
          <a:noFill/>
          <a:ln w="1778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4555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02B31"/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Visual/emotion optionnels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171432" y="2688336"/>
            <a:ext cx="393192" cy="0"/>
          </a:xfrm>
          <a:prstGeom prst="line">
            <a:avLst/>
          </a:prstGeom>
          <a:noFill/>
          <a:ln w="1778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28632" y="23317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292A22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0072" y="2432304"/>
            <a:ext cx="11155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Reports JSON/MD/PDF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87552" y="416052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102B31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2728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Qualité de sortie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2728" y="4754880"/>
            <a:ext cx="3886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execution_id unique
</a:t>
            </a:r>
            <a:pPr indent="0" marL="0">
              <a:buNone/>
            </a:pPr>
            <a:r>
              <a:rPr lang="en-US" sz="9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hash fichier
</a:t>
            </a:r>
            <a:pPr indent="0" marL="0">
              <a:buNone/>
            </a:pPr>
            <a:r>
              <a:rPr lang="en-US" sz="9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scorecard visible
</a:t>
            </a:r>
            <a:pPr indent="0" marL="0">
              <a:buNone/>
            </a:pPr>
            <a:r>
              <a:rPr lang="en-US" sz="9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rapport complet collapsible
</a:t>
            </a:r>
            <a:pPr indent="0" marL="0">
              <a:buNone/>
            </a:pPr>
            <a:r>
              <a:rPr lang="en-US" sz="98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PDF via /pitch/download/{id}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0" y="416052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351F22"/>
          </a:solidFill>
          <a:ln w="12700">
            <a:solidFill>
              <a:srgbClr val="EB6A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2C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Hygiène API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65976" y="4773168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sanitize_response retire chemins internes, états agentiques et traces sensibles avant retour au navigateur.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 | DONNÉES &amp; SÉCURITÉ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Supabase-ready, fallback local et points de vigilance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a une bonne base de persistance front, mais les secrets et les ports doivent être durcis avant production.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Supabase schema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" y="2615184"/>
            <a:ext cx="2423160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contact_submissions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newsletter_subscribers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pricing_selections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testimonials approved only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RLS activée + policies insert/select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Fallback démo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2312" y="2615184"/>
            <a:ext cx="2423160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localStorage demo DB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 de blocage sans .env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uploads locaux track2/pitch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rapports stockés par session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Vigilance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31352" y="2615184"/>
            <a:ext cx="2423160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 jamais versionner clés API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résoudre conflit de port 5057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valider taille/type uploads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isoler dossiers outputs
</a:t>
            </a:r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timeouts et logs structurés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 | MATRICE API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Les services locaux qui alimentent la démo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Cette slide sert de pense-bête technique pendant la soutenance.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06624" y="1828800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66744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Commande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75704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Rôle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" y="2176272"/>
            <a:ext cx="10607040" cy="0"/>
          </a:xfrm>
          <a:prstGeom prst="line">
            <a:avLst/>
          </a:prstGeom>
          <a:noFill/>
          <a:ln w="10160">
            <a:solidFill>
              <a:srgbClr val="D8E1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286000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06624" y="2286000"/>
            <a:ext cx="886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5173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666744" y="2286000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775704" y="2286000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SPA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86384" y="2743200"/>
            <a:ext cx="10607040" cy="0"/>
          </a:xfrm>
          <a:prstGeom prst="line">
            <a:avLst/>
          </a:prstGeom>
          <a:noFill/>
          <a:ln w="10160">
            <a:solidFill>
              <a:srgbClr val="D8E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852928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06624" y="2852928"/>
            <a:ext cx="886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5055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666744" y="2852928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externe attendue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775704" y="2852928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/track1/analyze, /track1/report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86384" y="3310128"/>
            <a:ext cx="10607040" cy="0"/>
          </a:xfrm>
          <a:prstGeom prst="line">
            <a:avLst/>
          </a:prstGeom>
          <a:noFill/>
          <a:ln w="10160">
            <a:solidFill>
              <a:srgbClr val="D8E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419856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06624" y="3419856"/>
            <a:ext cx="886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5057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666744" y="3419856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uvicorn track2_api:app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775704" y="3419856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/track2/sample, upload, run, chat, research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86384" y="3877056"/>
            <a:ext cx="10607040" cy="0"/>
          </a:xfrm>
          <a:prstGeom prst="line">
            <a:avLst/>
          </a:prstGeom>
          <a:noFill/>
          <a:ln w="10160">
            <a:solidFill>
              <a:srgbClr val="D8E1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986784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C Execution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06624" y="3986784"/>
            <a:ext cx="886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5056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666744" y="3986784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track3_api.py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775704" y="3986784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/track3/execution/run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86384" y="4443984"/>
            <a:ext cx="10607040" cy="0"/>
          </a:xfrm>
          <a:prstGeom prst="line">
            <a:avLst/>
          </a:prstGeom>
          <a:noFill/>
          <a:ln w="10160">
            <a:solidFill>
              <a:srgbClr val="D8E1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553712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Pitch Coach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06624" y="4553712"/>
            <a:ext cx="886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5057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666744" y="4553712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pitch_coach_api.py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775704" y="4553712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/pitch/health, analyze, download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22960" y="5650992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B6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recommandée : déplacer Pitch Coach sur 5058 ou Track B sur 5057/5059 de manière explicite dans code + documentation.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 | DÉMO TECHNIQUE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Scénario de présentation recommandé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bonne démo montre le fil produit complet sans lancer tous les traitements longs en direct.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783080"/>
            <a:ext cx="2926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783080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montrer proposition de valeur et tracks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514600"/>
            <a:ext cx="2926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514600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remplir une idée puis montrer rapport onglets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246120"/>
            <a:ext cx="2926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246120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charger sample, expliquer dossier + recherche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977640"/>
            <a:ext cx="2926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 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977640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exécuter sample HealthFlow ou afficher résultat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4709160"/>
            <a:ext cx="2926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Pitch Coach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709160"/>
            <a:ext cx="5577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montrer upload + rapport déjà généré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58200" y="18745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292A2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E9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Astuce soutenance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32520" y="2651760"/>
            <a:ext cx="19385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pas attendre Whisper/LLM en live si le temps est court : utiliser les rapports déjà présents dans pitch_coach_outputs.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BF7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">
            <a:off x="8869680" y="-502920"/>
            <a:ext cx="3840480" cy="7955280"/>
          </a:xfrm>
          <a:prstGeom prst="rect">
            <a:avLst/>
          </a:prstGeom>
          <a:solidFill>
            <a:srgbClr val="E7F4F0"/>
          </a:solidFill>
          <a:ln w="12700">
            <a:solidFill>
              <a:srgbClr val="E7F4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480560"/>
            <a:ext cx="3749040" cy="3749040"/>
          </a:xfrm>
          <a:prstGeom prst="arc">
            <a:avLst/>
          </a:prstGeom>
          <a:noFill/>
          <a:ln w="25400">
            <a:solidFill>
              <a:srgbClr val="D6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 | LIMITES &amp; ROADMAP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est déjà solide, ce qui doit passer au niveau production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présentation gagne en crédibilité quand les améliorations sont assumées et priorisées.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Court terme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2788920"/>
            <a:ext cx="2331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Résoudre conflit port 5057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Retirer secrets des fichiers locaux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Scripts start unifiés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 checks visibles UI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87452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Moyen terme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6592" y="2788920"/>
            <a:ext cx="2331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Queue jobs pour analyses longues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 obligatoire sur APIs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Stockage objet pour uploads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Observabilité logs + erreurs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B6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B6A5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Long terme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9912" y="2788920"/>
            <a:ext cx="2331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Déploiement cloud multi-services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 versionné par track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Workflow Jira bidirectionnel
</a:t>
            </a:r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Tests E2E et charges vidéo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A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6"/>
          </a:solidFill>
          <a:ln w="12700">
            <a:solidFill>
              <a:srgbClr val="0B1F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4206240" cy="4206240"/>
          </a:xfrm>
          <a:prstGeom prst="arc">
            <a:avLst/>
          </a:prstGeom>
          <a:noFill/>
          <a:ln w="2540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9144000" y="-274320"/>
            <a:ext cx="3474720" cy="7406640"/>
          </a:xfrm>
          <a:prstGeom prst="rect">
            <a:avLst/>
          </a:prstGeom>
          <a:solidFill>
            <a:srgbClr val="18353C">
              <a:alpha val="80000"/>
            </a:srgbClr>
          </a:solidFill>
          <a:ln w="12700">
            <a:solidFill>
              <a:srgbClr val="1835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646920" y="-548640"/>
            <a:ext cx="164592" cy="80467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"/>
            <a:ext cx="5852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 | CONCLUSION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713232"/>
            <a:ext cx="8001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 travail livré est une plateforme, pas une collection de pages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valeur technique vient de l’orchestration : une interface claire, des bridges spécialisés et des agents qui produisent des décisions actionnables.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À défendre en une phrase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676656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Venture Path accompagne le fondateur depuis la validation de l’idée jusqu’à l’exécution, en combinant React, APIs Python, Supabase-ready storage et pipelines LLM/agents.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02B31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EFE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Clarté produit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03320" y="4251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292A2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9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modulaire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351F22"/>
          </a:solidFill>
          <a:ln w="12700">
            <a:solidFill>
              <a:srgbClr val="EB6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2C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Agents spécialisés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38360" y="5623560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3B8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Merci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58368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0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 Path | Présentation technique |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Venture Path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Path - Presentation technique</dc:title>
  <dc:subject>Presentation technique Venture Path</dc:subject>
  <dc:creator>Codex</dc:creator>
  <cp:lastModifiedBy>Codex</cp:lastModifiedBy>
  <cp:revision>1</cp:revision>
  <dcterms:created xsi:type="dcterms:W3CDTF">2026-05-03T19:50:02Z</dcterms:created>
  <dcterms:modified xsi:type="dcterms:W3CDTF">2026-05-03T19:50:02Z</dcterms:modified>
</cp:coreProperties>
</file>